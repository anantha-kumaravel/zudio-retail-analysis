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02920" y="2148840"/>
            <a:ext cx="1115568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ZUDIO RETAIL SALES PERFORMANCE</a:t>
            </a:r>
            <a:endParaRPr lang="en-US" sz="3200" dirty="0"/>
          </a:p>
        </p:txBody>
      </p:sp>
      <p:sp>
        <p:nvSpPr>
          <p:cNvPr id="3" name="Text 1"/>
          <p:cNvSpPr/>
          <p:nvPr/>
        </p:nvSpPr>
        <p:spPr>
          <a:xfrm>
            <a:off x="502920" y="2697480"/>
            <a:ext cx="11155680" cy="640080"/>
          </a:xfrm>
          <a:prstGeom prst="rect">
            <a:avLst/>
          </a:prstGeom>
          <a:noFill/>
          <a:ln/>
        </p:spPr>
        <p:txBody>
          <a:bodyPr wrap="square" rtlCol="0" anchor="ctr"/>
          <a:lstStyle/>
          <a:p>
            <a:pPr indent="0" marL="0">
              <a:buNone/>
            </a:pPr>
            <a:r>
              <a:rPr lang="en-US" sz="3200" b="1" dirty="0">
                <a:solidFill>
                  <a:srgbClr val="E63946"/>
                </a:solidFill>
                <a:latin typeface="Cambria" pitchFamily="34" charset="0"/>
                <a:ea typeface="Cambria" pitchFamily="34" charset="-122"/>
                <a:cs typeface="Cambria" pitchFamily="34" charset="-120"/>
              </a:rPr>
              <a:t>ANALYTICS DASHBOARD</a:t>
            </a:r>
            <a:endParaRPr lang="en-US" sz="3200" dirty="0"/>
          </a:p>
        </p:txBody>
      </p:sp>
      <p:sp>
        <p:nvSpPr>
          <p:cNvPr id="4" name="Text 2"/>
          <p:cNvSpPr/>
          <p:nvPr/>
        </p:nvSpPr>
        <p:spPr>
          <a:xfrm>
            <a:off x="502920" y="3429000"/>
            <a:ext cx="10972800" cy="457200"/>
          </a:xfrm>
          <a:prstGeom prst="rect">
            <a:avLst/>
          </a:prstGeom>
          <a:noFill/>
          <a:ln/>
        </p:spPr>
        <p:txBody>
          <a:bodyPr wrap="square" rtlCol="0" anchor="ctr"/>
          <a:lstStyle/>
          <a:p>
            <a:pPr indent="0" marL="0">
              <a:buNone/>
            </a:pPr>
            <a:r>
              <a:rPr lang="en-US" sz="1600" dirty="0">
                <a:solidFill>
                  <a:srgbClr val="CFCFCF"/>
                </a:solidFill>
                <a:latin typeface="Calibri" pitchFamily="34" charset="0"/>
                <a:ea typeface="Calibri" pitchFamily="34" charset="-122"/>
                <a:cs typeface="Calibri" pitchFamily="34" charset="-120"/>
              </a:rPr>
              <a:t>Project Documentation  —  SQL + Power BI Retail Analytics Project</a:t>
            </a:r>
            <a:endParaRPr lang="en-US" sz="1600" dirty="0"/>
          </a:p>
        </p:txBody>
      </p:sp>
      <p:sp>
        <p:nvSpPr>
          <p:cNvPr id="5" name="Text 3"/>
          <p:cNvSpPr/>
          <p:nvPr/>
        </p:nvSpPr>
        <p:spPr>
          <a:xfrm>
            <a:off x="502920" y="4480560"/>
            <a:ext cx="9144000" cy="365760"/>
          </a:xfrm>
          <a:prstGeom prst="rect">
            <a:avLst/>
          </a:prstGeom>
          <a:noFill/>
          <a:ln/>
        </p:spPr>
        <p:txBody>
          <a:bodyPr wrap="square" rtlCol="0" anchor="ctr"/>
          <a:lstStyle/>
          <a:p>
            <a:pPr indent="0" marL="0">
              <a:buNone/>
            </a:pPr>
            <a:r>
              <a:rPr lang="en-US" sz="1300" dirty="0">
                <a:solidFill>
                  <a:srgbClr val="6B6B6B"/>
                </a:solidFill>
                <a:latin typeface="Calibri" pitchFamily="34" charset="0"/>
                <a:ea typeface="Calibri" pitchFamily="34" charset="-122"/>
                <a:cs typeface="Calibri" pitchFamily="34" charset="-120"/>
              </a:rPr>
              <a:t>Anantha Kumaravel R  |  Data Analytics, Anudip Foundation</a:t>
            </a:r>
            <a:endParaRPr lang="en-US" sz="1300" dirty="0"/>
          </a:p>
        </p:txBody>
      </p:sp>
      <p:sp>
        <p:nvSpPr>
          <p:cNvPr id="6" name="Shape 4"/>
          <p:cNvSpPr/>
          <p:nvPr/>
        </p:nvSpPr>
        <p:spPr>
          <a:xfrm>
            <a:off x="10561320" y="640080"/>
            <a:ext cx="1005840" cy="1005840"/>
          </a:xfrm>
          <a:prstGeom prst="ellipse">
            <a:avLst/>
          </a:prstGeom>
          <a:solidFill>
            <a:srgbClr val="E6394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10515600" cy="54864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Introduction and problem statement</a:t>
            </a:r>
            <a:endParaRPr lang="en-US" sz="2600" dirty="0"/>
          </a:p>
        </p:txBody>
      </p:sp>
      <p:sp>
        <p:nvSpPr>
          <p:cNvPr id="3" name="Shape 1"/>
          <p:cNvSpPr/>
          <p:nvPr/>
        </p:nvSpPr>
        <p:spPr>
          <a:xfrm>
            <a:off x="502920" y="1188720"/>
            <a:ext cx="11155680" cy="1554480"/>
          </a:xfrm>
          <a:prstGeom prst="rect">
            <a:avLst/>
          </a:prstGeom>
          <a:solidFill>
            <a:srgbClr val="F4F4F4"/>
          </a:solidFill>
          <a:ln/>
        </p:spPr>
      </p:sp>
      <p:sp>
        <p:nvSpPr>
          <p:cNvPr id="4" name="Text 2"/>
          <p:cNvSpPr/>
          <p:nvPr/>
        </p:nvSpPr>
        <p:spPr>
          <a:xfrm>
            <a:off x="777240" y="1325880"/>
            <a:ext cx="10607040" cy="1280160"/>
          </a:xfrm>
          <a:prstGeom prst="rect">
            <a:avLst/>
          </a:prstGeom>
          <a:noFill/>
          <a:ln/>
        </p:spPr>
        <p:txBody>
          <a:bodyPr wrap="square" rtlCol="0" anchor="t"/>
          <a:lstStyle/>
          <a:p>
            <a:pPr indent="0" marL="0">
              <a:lnSpc>
                <a:spcPct val="130000"/>
              </a:lnSpc>
              <a:buNone/>
            </a:pPr>
            <a:r>
              <a:rPr lang="en-US" sz="1400" dirty="0">
                <a:solidFill>
                  <a:srgbClr val="2A2A2A"/>
                </a:solidFill>
                <a:latin typeface="Calibri" pitchFamily="34" charset="0"/>
                <a:ea typeface="Calibri" pitchFamily="34" charset="-122"/>
                <a:cs typeface="Calibri" pitchFamily="34" charset="-120"/>
              </a:rPr>
              <a:t>This project turns raw Zudio retail data into simple, clear dashboards. It uses SQL to build and clean the database, and Power BI to create the visuals. The data is organized into five connected tables — Stores, Customers, Products, Orders, and Order Items — and the final result is four interactive dashboards.</a:t>
            </a:r>
            <a:endParaRPr lang="en-US" sz="1400" dirty="0"/>
          </a:p>
        </p:txBody>
      </p:sp>
      <p:sp>
        <p:nvSpPr>
          <p:cNvPr id="5" name="Shape 3"/>
          <p:cNvSpPr/>
          <p:nvPr/>
        </p:nvSpPr>
        <p:spPr>
          <a:xfrm>
            <a:off x="502920" y="2971800"/>
            <a:ext cx="5440680" cy="1828800"/>
          </a:xfrm>
          <a:prstGeom prst="rect">
            <a:avLst>
              <a:gd name="adj" fmla="val 3000"/>
            </a:avLst>
          </a:prstGeom>
          <a:solidFill>
            <a:srgbClr val="1A1A1A"/>
          </a:solidFill>
          <a:ln/>
        </p:spPr>
      </p:sp>
      <p:sp>
        <p:nvSpPr>
          <p:cNvPr id="6" name="Text 4"/>
          <p:cNvSpPr/>
          <p:nvPr/>
        </p:nvSpPr>
        <p:spPr>
          <a:xfrm>
            <a:off x="777240" y="3154680"/>
            <a:ext cx="4892040" cy="365760"/>
          </a:xfrm>
          <a:prstGeom prst="rect">
            <a:avLst/>
          </a:prstGeom>
          <a:noFill/>
          <a:ln/>
        </p:spPr>
        <p:txBody>
          <a:bodyPr wrap="square" rtlCol="0" anchor="ctr"/>
          <a:lstStyle/>
          <a:p>
            <a:pPr indent="0" marL="0">
              <a:buNone/>
            </a:pPr>
            <a:r>
              <a:rPr lang="en-US" sz="1400" b="1" dirty="0">
                <a:solidFill>
                  <a:srgbClr val="E63946"/>
                </a:solidFill>
                <a:latin typeface="Calibri" pitchFamily="34" charset="0"/>
                <a:ea typeface="Calibri" pitchFamily="34" charset="-122"/>
                <a:cs typeface="Calibri" pitchFamily="34" charset="-120"/>
              </a:rPr>
              <a:t>The problem</a:t>
            </a:r>
            <a:endParaRPr lang="en-US" sz="1400" dirty="0"/>
          </a:p>
        </p:txBody>
      </p:sp>
      <p:sp>
        <p:nvSpPr>
          <p:cNvPr id="7" name="Text 5"/>
          <p:cNvSpPr/>
          <p:nvPr/>
        </p:nvSpPr>
        <p:spPr>
          <a:xfrm>
            <a:off x="777240" y="3520440"/>
            <a:ext cx="4892040" cy="1097280"/>
          </a:xfrm>
          <a:prstGeom prst="rect">
            <a:avLst/>
          </a:prstGeom>
          <a:noFill/>
          <a:ln/>
        </p:spPr>
        <p:txBody>
          <a:bodyPr wrap="square" rtlCol="0" anchor="t"/>
          <a:lstStyle/>
          <a:p>
            <a:pPr indent="0" marL="0">
              <a:lnSpc>
                <a:spcPct val="130000"/>
              </a:lnSpc>
              <a:buNone/>
            </a:pPr>
            <a:r>
              <a:rPr lang="en-US" sz="1300" dirty="0">
                <a:solidFill>
                  <a:srgbClr val="E0E0E0"/>
                </a:solidFill>
                <a:latin typeface="Calibri" pitchFamily="34" charset="0"/>
                <a:ea typeface="Calibri" pitchFamily="34" charset="-122"/>
                <a:cs typeface="Calibri" pitchFamily="34" charset="-120"/>
              </a:rPr>
              <a:t>Raw retail data in tables is hard to read and understand quickly.</a:t>
            </a:r>
            <a:endParaRPr lang="en-US" sz="1300" dirty="0"/>
          </a:p>
        </p:txBody>
      </p:sp>
      <p:sp>
        <p:nvSpPr>
          <p:cNvPr id="8" name="Shape 6"/>
          <p:cNvSpPr/>
          <p:nvPr/>
        </p:nvSpPr>
        <p:spPr>
          <a:xfrm>
            <a:off x="6217920" y="2971800"/>
            <a:ext cx="5440680" cy="1828800"/>
          </a:xfrm>
          <a:prstGeom prst="rect">
            <a:avLst>
              <a:gd name="adj" fmla="val 3000"/>
            </a:avLst>
          </a:prstGeom>
          <a:solidFill>
            <a:srgbClr val="E63946"/>
          </a:solidFill>
          <a:ln/>
        </p:spPr>
      </p:sp>
      <p:sp>
        <p:nvSpPr>
          <p:cNvPr id="9" name="Text 7"/>
          <p:cNvSpPr/>
          <p:nvPr/>
        </p:nvSpPr>
        <p:spPr>
          <a:xfrm>
            <a:off x="6492240" y="3154680"/>
            <a:ext cx="489204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The solution</a:t>
            </a:r>
            <a:endParaRPr lang="en-US" sz="1400" dirty="0"/>
          </a:p>
        </p:txBody>
      </p:sp>
      <p:sp>
        <p:nvSpPr>
          <p:cNvPr id="10" name="Text 8"/>
          <p:cNvSpPr/>
          <p:nvPr/>
        </p:nvSpPr>
        <p:spPr>
          <a:xfrm>
            <a:off x="6492240" y="3520440"/>
            <a:ext cx="4892040" cy="1097280"/>
          </a:xfrm>
          <a:prstGeom prst="rect">
            <a:avLst/>
          </a:prstGeom>
          <a:noFill/>
          <a:ln/>
        </p:spPr>
        <p:txBody>
          <a:bodyPr wrap="square" rtlCol="0" anchor="t"/>
          <a:lstStyle/>
          <a:p>
            <a:pPr indent="0" marL="0">
              <a:lnSpc>
                <a:spcPct val="130000"/>
              </a:lnSpc>
              <a:buNone/>
            </a:pPr>
            <a:r>
              <a:rPr lang="en-US" sz="1300" dirty="0">
                <a:solidFill>
                  <a:srgbClr val="FFF0F0"/>
                </a:solidFill>
                <a:latin typeface="Calibri" pitchFamily="34" charset="0"/>
                <a:ea typeface="Calibri" pitchFamily="34" charset="-122"/>
                <a:cs typeface="Calibri" pitchFamily="34" charset="-120"/>
              </a:rPr>
              <a:t>Turn the data into a clear, visual dashboard anyone can use to understand business performance at a glance.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10515600" cy="54864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Objectives and tools used</a:t>
            </a:r>
            <a:endParaRPr lang="en-US" sz="2600" dirty="0"/>
          </a:p>
        </p:txBody>
      </p:sp>
      <p:sp>
        <p:nvSpPr>
          <p:cNvPr id="3" name="Text 1"/>
          <p:cNvSpPr/>
          <p:nvPr/>
        </p:nvSpPr>
        <p:spPr>
          <a:xfrm>
            <a:off x="502920" y="1188720"/>
            <a:ext cx="5486400" cy="36576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Objectives</a:t>
            </a:r>
            <a:endParaRPr lang="en-US" sz="1600" dirty="0"/>
          </a:p>
        </p:txBody>
      </p:sp>
      <p:sp>
        <p:nvSpPr>
          <p:cNvPr id="4" name="Shape 2"/>
          <p:cNvSpPr/>
          <p:nvPr/>
        </p:nvSpPr>
        <p:spPr>
          <a:xfrm>
            <a:off x="502920" y="1737360"/>
            <a:ext cx="146304" cy="146304"/>
          </a:xfrm>
          <a:prstGeom prst="ellipse">
            <a:avLst/>
          </a:prstGeom>
          <a:solidFill>
            <a:srgbClr val="E63946"/>
          </a:solidFill>
          <a:ln/>
        </p:spPr>
      </p:sp>
      <p:sp>
        <p:nvSpPr>
          <p:cNvPr id="5" name="Text 3"/>
          <p:cNvSpPr/>
          <p:nvPr/>
        </p:nvSpPr>
        <p:spPr>
          <a:xfrm>
            <a:off x="777240" y="1636776"/>
            <a:ext cx="548640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Collect and organize retail data into a clean structure</a:t>
            </a:r>
            <a:endParaRPr lang="en-US" sz="1200" dirty="0"/>
          </a:p>
        </p:txBody>
      </p:sp>
      <p:sp>
        <p:nvSpPr>
          <p:cNvPr id="6" name="Shape 4"/>
          <p:cNvSpPr/>
          <p:nvPr/>
        </p:nvSpPr>
        <p:spPr>
          <a:xfrm>
            <a:off x="502920" y="2304288"/>
            <a:ext cx="146304" cy="146304"/>
          </a:xfrm>
          <a:prstGeom prst="ellipse">
            <a:avLst/>
          </a:prstGeom>
          <a:solidFill>
            <a:srgbClr val="E63946"/>
          </a:solidFill>
          <a:ln/>
        </p:spPr>
      </p:sp>
      <p:sp>
        <p:nvSpPr>
          <p:cNvPr id="7" name="Text 5"/>
          <p:cNvSpPr/>
          <p:nvPr/>
        </p:nvSpPr>
        <p:spPr>
          <a:xfrm>
            <a:off x="777240" y="2203704"/>
            <a:ext cx="548640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Clean the data before building any charts</a:t>
            </a:r>
            <a:endParaRPr lang="en-US" sz="1200" dirty="0"/>
          </a:p>
        </p:txBody>
      </p:sp>
      <p:sp>
        <p:nvSpPr>
          <p:cNvPr id="8" name="Shape 6"/>
          <p:cNvSpPr/>
          <p:nvPr/>
        </p:nvSpPr>
        <p:spPr>
          <a:xfrm>
            <a:off x="502920" y="2871216"/>
            <a:ext cx="146304" cy="146304"/>
          </a:xfrm>
          <a:prstGeom prst="ellipse">
            <a:avLst/>
          </a:prstGeom>
          <a:solidFill>
            <a:srgbClr val="E63946"/>
          </a:solidFill>
          <a:ln/>
        </p:spPr>
      </p:sp>
      <p:sp>
        <p:nvSpPr>
          <p:cNvPr id="9" name="Text 7"/>
          <p:cNvSpPr/>
          <p:nvPr/>
        </p:nvSpPr>
        <p:spPr>
          <a:xfrm>
            <a:off x="777240" y="2770632"/>
            <a:ext cx="548640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Build a structured SQL database with connected tables</a:t>
            </a:r>
            <a:endParaRPr lang="en-US" sz="1200" dirty="0"/>
          </a:p>
        </p:txBody>
      </p:sp>
      <p:sp>
        <p:nvSpPr>
          <p:cNvPr id="10" name="Shape 8"/>
          <p:cNvSpPr/>
          <p:nvPr/>
        </p:nvSpPr>
        <p:spPr>
          <a:xfrm>
            <a:off x="502920" y="3438144"/>
            <a:ext cx="146304" cy="146304"/>
          </a:xfrm>
          <a:prstGeom prst="ellipse">
            <a:avLst/>
          </a:prstGeom>
          <a:solidFill>
            <a:srgbClr val="E63946"/>
          </a:solidFill>
          <a:ln/>
        </p:spPr>
      </p:sp>
      <p:sp>
        <p:nvSpPr>
          <p:cNvPr id="11" name="Text 9"/>
          <p:cNvSpPr/>
          <p:nvPr/>
        </p:nvSpPr>
        <p:spPr>
          <a:xfrm>
            <a:off x="777240" y="3337560"/>
            <a:ext cx="548640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Create DAX measures for sales, profit, orders, and products</a:t>
            </a:r>
            <a:endParaRPr lang="en-US" sz="1200" dirty="0"/>
          </a:p>
        </p:txBody>
      </p:sp>
      <p:sp>
        <p:nvSpPr>
          <p:cNvPr id="12" name="Shape 10"/>
          <p:cNvSpPr/>
          <p:nvPr/>
        </p:nvSpPr>
        <p:spPr>
          <a:xfrm>
            <a:off x="502920" y="4005072"/>
            <a:ext cx="146304" cy="146304"/>
          </a:xfrm>
          <a:prstGeom prst="ellipse">
            <a:avLst/>
          </a:prstGeom>
          <a:solidFill>
            <a:srgbClr val="E63946"/>
          </a:solidFill>
          <a:ln/>
        </p:spPr>
      </p:sp>
      <p:sp>
        <p:nvSpPr>
          <p:cNvPr id="13" name="Text 11"/>
          <p:cNvSpPr/>
          <p:nvPr/>
        </p:nvSpPr>
        <p:spPr>
          <a:xfrm>
            <a:off x="777240" y="3904488"/>
            <a:ext cx="548640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Build four interactive Power BI dashboards</a:t>
            </a:r>
            <a:endParaRPr lang="en-US" sz="1200" dirty="0"/>
          </a:p>
        </p:txBody>
      </p:sp>
      <p:sp>
        <p:nvSpPr>
          <p:cNvPr id="14" name="Shape 12"/>
          <p:cNvSpPr/>
          <p:nvPr/>
        </p:nvSpPr>
        <p:spPr>
          <a:xfrm>
            <a:off x="502920" y="4572000"/>
            <a:ext cx="146304" cy="146304"/>
          </a:xfrm>
          <a:prstGeom prst="ellipse">
            <a:avLst/>
          </a:prstGeom>
          <a:solidFill>
            <a:srgbClr val="E63946"/>
          </a:solidFill>
          <a:ln/>
        </p:spPr>
      </p:sp>
      <p:sp>
        <p:nvSpPr>
          <p:cNvPr id="15" name="Text 13"/>
          <p:cNvSpPr/>
          <p:nvPr/>
        </p:nvSpPr>
        <p:spPr>
          <a:xfrm>
            <a:off x="777240" y="4471416"/>
            <a:ext cx="548640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Find useful patterns in sales, products, stores, and customers</a:t>
            </a:r>
            <a:endParaRPr lang="en-US" sz="1200" dirty="0"/>
          </a:p>
        </p:txBody>
      </p:sp>
      <p:sp>
        <p:nvSpPr>
          <p:cNvPr id="16" name="Text 14"/>
          <p:cNvSpPr/>
          <p:nvPr/>
        </p:nvSpPr>
        <p:spPr>
          <a:xfrm>
            <a:off x="6675120" y="1188720"/>
            <a:ext cx="5029200" cy="36576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Tools and technologies</a:t>
            </a:r>
            <a:endParaRPr lang="en-US" sz="1600" dirty="0"/>
          </a:p>
        </p:txBody>
      </p:sp>
      <p:sp>
        <p:nvSpPr>
          <p:cNvPr id="17" name="Shape 15"/>
          <p:cNvSpPr/>
          <p:nvPr/>
        </p:nvSpPr>
        <p:spPr>
          <a:xfrm>
            <a:off x="6675120" y="1691640"/>
            <a:ext cx="4937760" cy="621792"/>
          </a:xfrm>
          <a:prstGeom prst="rect">
            <a:avLst>
              <a:gd name="adj" fmla="val 7353"/>
            </a:avLst>
          </a:prstGeom>
          <a:solidFill>
            <a:srgbClr val="F4F4F4"/>
          </a:solidFill>
          <a:ln/>
        </p:spPr>
      </p:sp>
      <p:sp>
        <p:nvSpPr>
          <p:cNvPr id="18" name="Text 16"/>
          <p:cNvSpPr/>
          <p:nvPr/>
        </p:nvSpPr>
        <p:spPr>
          <a:xfrm>
            <a:off x="6858000" y="1691640"/>
            <a:ext cx="1463040" cy="621792"/>
          </a:xfrm>
          <a:prstGeom prst="rect">
            <a:avLst/>
          </a:prstGeom>
          <a:noFill/>
          <a:ln/>
        </p:spPr>
        <p:txBody>
          <a:bodyPr wrap="square" rtlCol="0" anchor="ctr"/>
          <a:lstStyle/>
          <a:p>
            <a:pPr indent="0" marL="0">
              <a:buNone/>
            </a:pPr>
            <a:r>
              <a:rPr lang="en-US" sz="1250" b="1" dirty="0">
                <a:solidFill>
                  <a:srgbClr val="E63946"/>
                </a:solidFill>
                <a:latin typeface="Calibri" pitchFamily="34" charset="0"/>
                <a:ea typeface="Calibri" pitchFamily="34" charset="-122"/>
                <a:cs typeface="Calibri" pitchFamily="34" charset="-120"/>
              </a:rPr>
              <a:t>SQL</a:t>
            </a:r>
            <a:endParaRPr lang="en-US" sz="1250" dirty="0"/>
          </a:p>
        </p:txBody>
      </p:sp>
      <p:sp>
        <p:nvSpPr>
          <p:cNvPr id="19" name="Text 17"/>
          <p:cNvSpPr/>
          <p:nvPr/>
        </p:nvSpPr>
        <p:spPr>
          <a:xfrm>
            <a:off x="8275320" y="1691640"/>
            <a:ext cx="3200400" cy="621792"/>
          </a:xfrm>
          <a:prstGeom prst="rect">
            <a:avLst/>
          </a:prstGeom>
          <a:noFill/>
          <a:ln/>
        </p:spPr>
        <p:txBody>
          <a:bodyPr wrap="square" rtlCol="0" anchor="ctr"/>
          <a:lstStyle/>
          <a:p>
            <a:pPr indent="0" marL="0">
              <a:buNone/>
            </a:pPr>
            <a:r>
              <a:rPr lang="en-US" sz="1100" dirty="0">
                <a:solidFill>
                  <a:srgbClr val="2A2A2A"/>
                </a:solidFill>
                <a:latin typeface="Calibri" pitchFamily="34" charset="0"/>
                <a:ea typeface="Calibri" pitchFamily="34" charset="-122"/>
                <a:cs typeface="Calibri" pitchFamily="34" charset="-120"/>
              </a:rPr>
              <a:t>Build and clean the database</a:t>
            </a:r>
            <a:endParaRPr lang="en-US" sz="1100" dirty="0"/>
          </a:p>
        </p:txBody>
      </p:sp>
      <p:sp>
        <p:nvSpPr>
          <p:cNvPr id="20" name="Shape 18"/>
          <p:cNvSpPr/>
          <p:nvPr/>
        </p:nvSpPr>
        <p:spPr>
          <a:xfrm>
            <a:off x="6675120" y="2441448"/>
            <a:ext cx="4937760" cy="621792"/>
          </a:xfrm>
          <a:prstGeom prst="rect">
            <a:avLst>
              <a:gd name="adj" fmla="val 7353"/>
            </a:avLst>
          </a:prstGeom>
          <a:solidFill>
            <a:srgbClr val="F4F4F4"/>
          </a:solidFill>
          <a:ln/>
        </p:spPr>
      </p:sp>
      <p:sp>
        <p:nvSpPr>
          <p:cNvPr id="21" name="Text 19"/>
          <p:cNvSpPr/>
          <p:nvPr/>
        </p:nvSpPr>
        <p:spPr>
          <a:xfrm>
            <a:off x="6858000" y="2441448"/>
            <a:ext cx="1463040" cy="621792"/>
          </a:xfrm>
          <a:prstGeom prst="rect">
            <a:avLst/>
          </a:prstGeom>
          <a:noFill/>
          <a:ln/>
        </p:spPr>
        <p:txBody>
          <a:bodyPr wrap="square" rtlCol="0" anchor="ctr"/>
          <a:lstStyle/>
          <a:p>
            <a:pPr indent="0" marL="0">
              <a:buNone/>
            </a:pPr>
            <a:r>
              <a:rPr lang="en-US" sz="1250" b="1" dirty="0">
                <a:solidFill>
                  <a:srgbClr val="E63946"/>
                </a:solidFill>
                <a:latin typeface="Calibri" pitchFamily="34" charset="0"/>
                <a:ea typeface="Calibri" pitchFamily="34" charset="-122"/>
                <a:cs typeface="Calibri" pitchFamily="34" charset="-120"/>
              </a:rPr>
              <a:t>Power Query</a:t>
            </a:r>
            <a:endParaRPr lang="en-US" sz="1250" dirty="0"/>
          </a:p>
        </p:txBody>
      </p:sp>
      <p:sp>
        <p:nvSpPr>
          <p:cNvPr id="22" name="Text 20"/>
          <p:cNvSpPr/>
          <p:nvPr/>
        </p:nvSpPr>
        <p:spPr>
          <a:xfrm>
            <a:off x="8275320" y="2441448"/>
            <a:ext cx="3200400" cy="621792"/>
          </a:xfrm>
          <a:prstGeom prst="rect">
            <a:avLst/>
          </a:prstGeom>
          <a:noFill/>
          <a:ln/>
        </p:spPr>
        <p:txBody>
          <a:bodyPr wrap="square" rtlCol="0" anchor="ctr"/>
          <a:lstStyle/>
          <a:p>
            <a:pPr indent="0" marL="0">
              <a:buNone/>
            </a:pPr>
            <a:r>
              <a:rPr lang="en-US" sz="1100" dirty="0">
                <a:solidFill>
                  <a:srgbClr val="2A2A2A"/>
                </a:solidFill>
                <a:latin typeface="Calibri" pitchFamily="34" charset="0"/>
                <a:ea typeface="Calibri" pitchFamily="34" charset="-122"/>
                <a:cs typeface="Calibri" pitchFamily="34" charset="-120"/>
              </a:rPr>
              <a:t>Clean and prepare the data</a:t>
            </a:r>
            <a:endParaRPr lang="en-US" sz="1100" dirty="0"/>
          </a:p>
        </p:txBody>
      </p:sp>
      <p:sp>
        <p:nvSpPr>
          <p:cNvPr id="23" name="Shape 21"/>
          <p:cNvSpPr/>
          <p:nvPr/>
        </p:nvSpPr>
        <p:spPr>
          <a:xfrm>
            <a:off x="6675120" y="3191256"/>
            <a:ext cx="4937760" cy="621792"/>
          </a:xfrm>
          <a:prstGeom prst="rect">
            <a:avLst>
              <a:gd name="adj" fmla="val 7353"/>
            </a:avLst>
          </a:prstGeom>
          <a:solidFill>
            <a:srgbClr val="F4F4F4"/>
          </a:solidFill>
          <a:ln/>
        </p:spPr>
      </p:sp>
      <p:sp>
        <p:nvSpPr>
          <p:cNvPr id="24" name="Text 22"/>
          <p:cNvSpPr/>
          <p:nvPr/>
        </p:nvSpPr>
        <p:spPr>
          <a:xfrm>
            <a:off x="6858000" y="3191256"/>
            <a:ext cx="1463040" cy="621792"/>
          </a:xfrm>
          <a:prstGeom prst="rect">
            <a:avLst/>
          </a:prstGeom>
          <a:noFill/>
          <a:ln/>
        </p:spPr>
        <p:txBody>
          <a:bodyPr wrap="square" rtlCol="0" anchor="ctr"/>
          <a:lstStyle/>
          <a:p>
            <a:pPr indent="0" marL="0">
              <a:buNone/>
            </a:pPr>
            <a:r>
              <a:rPr lang="en-US" sz="1250" b="1" dirty="0">
                <a:solidFill>
                  <a:srgbClr val="E63946"/>
                </a:solidFill>
                <a:latin typeface="Calibri" pitchFamily="34" charset="0"/>
                <a:ea typeface="Calibri" pitchFamily="34" charset="-122"/>
                <a:cs typeface="Calibri" pitchFamily="34" charset="-120"/>
              </a:rPr>
              <a:t>Power BI</a:t>
            </a:r>
            <a:endParaRPr lang="en-US" sz="1250" dirty="0"/>
          </a:p>
        </p:txBody>
      </p:sp>
      <p:sp>
        <p:nvSpPr>
          <p:cNvPr id="25" name="Text 23"/>
          <p:cNvSpPr/>
          <p:nvPr/>
        </p:nvSpPr>
        <p:spPr>
          <a:xfrm>
            <a:off x="8275320" y="3191256"/>
            <a:ext cx="3200400" cy="621792"/>
          </a:xfrm>
          <a:prstGeom prst="rect">
            <a:avLst/>
          </a:prstGeom>
          <a:noFill/>
          <a:ln/>
        </p:spPr>
        <p:txBody>
          <a:bodyPr wrap="square" rtlCol="0" anchor="ctr"/>
          <a:lstStyle/>
          <a:p>
            <a:pPr indent="0" marL="0">
              <a:buNone/>
            </a:pPr>
            <a:r>
              <a:rPr lang="en-US" sz="1100" dirty="0">
                <a:solidFill>
                  <a:srgbClr val="2A2A2A"/>
                </a:solidFill>
                <a:latin typeface="Calibri" pitchFamily="34" charset="0"/>
                <a:ea typeface="Calibri" pitchFamily="34" charset="-122"/>
                <a:cs typeface="Calibri" pitchFamily="34" charset="-120"/>
              </a:rPr>
              <a:t>Build the interactive dashboards</a:t>
            </a:r>
            <a:endParaRPr lang="en-US" sz="1100" dirty="0"/>
          </a:p>
        </p:txBody>
      </p:sp>
      <p:sp>
        <p:nvSpPr>
          <p:cNvPr id="26" name="Shape 24"/>
          <p:cNvSpPr/>
          <p:nvPr/>
        </p:nvSpPr>
        <p:spPr>
          <a:xfrm>
            <a:off x="6675120" y="3941064"/>
            <a:ext cx="4937760" cy="621792"/>
          </a:xfrm>
          <a:prstGeom prst="rect">
            <a:avLst>
              <a:gd name="adj" fmla="val 7353"/>
            </a:avLst>
          </a:prstGeom>
          <a:solidFill>
            <a:srgbClr val="F4F4F4"/>
          </a:solidFill>
          <a:ln/>
        </p:spPr>
      </p:sp>
      <p:sp>
        <p:nvSpPr>
          <p:cNvPr id="27" name="Text 25"/>
          <p:cNvSpPr/>
          <p:nvPr/>
        </p:nvSpPr>
        <p:spPr>
          <a:xfrm>
            <a:off x="6858000" y="3941064"/>
            <a:ext cx="1463040" cy="621792"/>
          </a:xfrm>
          <a:prstGeom prst="rect">
            <a:avLst/>
          </a:prstGeom>
          <a:noFill/>
          <a:ln/>
        </p:spPr>
        <p:txBody>
          <a:bodyPr wrap="square" rtlCol="0" anchor="ctr"/>
          <a:lstStyle/>
          <a:p>
            <a:pPr indent="0" marL="0">
              <a:buNone/>
            </a:pPr>
            <a:r>
              <a:rPr lang="en-US" sz="1250" b="1" dirty="0">
                <a:solidFill>
                  <a:srgbClr val="E63946"/>
                </a:solidFill>
                <a:latin typeface="Calibri" pitchFamily="34" charset="0"/>
                <a:ea typeface="Calibri" pitchFamily="34" charset="-122"/>
                <a:cs typeface="Calibri" pitchFamily="34" charset="-120"/>
              </a:rPr>
              <a:t>DAX</a:t>
            </a:r>
            <a:endParaRPr lang="en-US" sz="1250" dirty="0"/>
          </a:p>
        </p:txBody>
      </p:sp>
      <p:sp>
        <p:nvSpPr>
          <p:cNvPr id="28" name="Text 26"/>
          <p:cNvSpPr/>
          <p:nvPr/>
        </p:nvSpPr>
        <p:spPr>
          <a:xfrm>
            <a:off x="8275320" y="3941064"/>
            <a:ext cx="3200400" cy="621792"/>
          </a:xfrm>
          <a:prstGeom prst="rect">
            <a:avLst/>
          </a:prstGeom>
          <a:noFill/>
          <a:ln/>
        </p:spPr>
        <p:txBody>
          <a:bodyPr wrap="square" rtlCol="0" anchor="ctr"/>
          <a:lstStyle/>
          <a:p>
            <a:pPr indent="0" marL="0">
              <a:buNone/>
            </a:pPr>
            <a:r>
              <a:rPr lang="en-US" sz="1100" dirty="0">
                <a:solidFill>
                  <a:srgbClr val="2A2A2A"/>
                </a:solidFill>
                <a:latin typeface="Calibri" pitchFamily="34" charset="0"/>
                <a:ea typeface="Calibri" pitchFamily="34" charset="-122"/>
                <a:cs typeface="Calibri" pitchFamily="34" charset="-120"/>
              </a:rPr>
              <a:t>Create measures and calculations</a:t>
            </a:r>
            <a:endParaRPr lang="en-US" sz="1100" dirty="0"/>
          </a:p>
        </p:txBody>
      </p:sp>
      <p:sp>
        <p:nvSpPr>
          <p:cNvPr id="29" name="Shape 27"/>
          <p:cNvSpPr/>
          <p:nvPr/>
        </p:nvSpPr>
        <p:spPr>
          <a:xfrm>
            <a:off x="6675120" y="4690872"/>
            <a:ext cx="4937760" cy="621792"/>
          </a:xfrm>
          <a:prstGeom prst="rect">
            <a:avLst>
              <a:gd name="adj" fmla="val 7353"/>
            </a:avLst>
          </a:prstGeom>
          <a:solidFill>
            <a:srgbClr val="F4F4F4"/>
          </a:solidFill>
          <a:ln/>
        </p:spPr>
      </p:sp>
      <p:sp>
        <p:nvSpPr>
          <p:cNvPr id="30" name="Text 28"/>
          <p:cNvSpPr/>
          <p:nvPr/>
        </p:nvSpPr>
        <p:spPr>
          <a:xfrm>
            <a:off x="6858000" y="4690872"/>
            <a:ext cx="1463040" cy="621792"/>
          </a:xfrm>
          <a:prstGeom prst="rect">
            <a:avLst/>
          </a:prstGeom>
          <a:noFill/>
          <a:ln/>
        </p:spPr>
        <p:txBody>
          <a:bodyPr wrap="square" rtlCol="0" anchor="ctr"/>
          <a:lstStyle/>
          <a:p>
            <a:pPr indent="0" marL="0">
              <a:buNone/>
            </a:pPr>
            <a:r>
              <a:rPr lang="en-US" sz="1250" b="1" dirty="0">
                <a:solidFill>
                  <a:srgbClr val="E63946"/>
                </a:solidFill>
                <a:latin typeface="Calibri" pitchFamily="34" charset="0"/>
                <a:ea typeface="Calibri" pitchFamily="34" charset="-122"/>
                <a:cs typeface="Calibri" pitchFamily="34" charset="-120"/>
              </a:rPr>
              <a:t>CSV</a:t>
            </a:r>
            <a:endParaRPr lang="en-US" sz="1250" dirty="0"/>
          </a:p>
        </p:txBody>
      </p:sp>
      <p:sp>
        <p:nvSpPr>
          <p:cNvPr id="31" name="Text 29"/>
          <p:cNvSpPr/>
          <p:nvPr/>
        </p:nvSpPr>
        <p:spPr>
          <a:xfrm>
            <a:off x="8275320" y="4690872"/>
            <a:ext cx="3200400" cy="621792"/>
          </a:xfrm>
          <a:prstGeom prst="rect">
            <a:avLst/>
          </a:prstGeom>
          <a:noFill/>
          <a:ln/>
        </p:spPr>
        <p:txBody>
          <a:bodyPr wrap="square" rtlCol="0" anchor="ctr"/>
          <a:lstStyle/>
          <a:p>
            <a:pPr indent="0" marL="0">
              <a:buNone/>
            </a:pPr>
            <a:r>
              <a:rPr lang="en-US" sz="1100" dirty="0">
                <a:solidFill>
                  <a:srgbClr val="2A2A2A"/>
                </a:solidFill>
                <a:latin typeface="Calibri" pitchFamily="34" charset="0"/>
                <a:ea typeface="Calibri" pitchFamily="34" charset="-122"/>
                <a:cs typeface="Calibri" pitchFamily="34" charset="-120"/>
              </a:rPr>
              <a:t>Store and import the dataset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10515600" cy="54864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Dataset and table relationships</a:t>
            </a:r>
            <a:endParaRPr lang="en-US" sz="2600" dirty="0"/>
          </a:p>
        </p:txBody>
      </p:sp>
      <p:sp>
        <p:nvSpPr>
          <p:cNvPr id="3" name="Text 1"/>
          <p:cNvSpPr/>
          <p:nvPr/>
        </p:nvSpPr>
        <p:spPr>
          <a:xfrm>
            <a:off x="502920" y="914400"/>
            <a:ext cx="10058400" cy="365760"/>
          </a:xfrm>
          <a:prstGeom prst="rect">
            <a:avLst/>
          </a:prstGeom>
          <a:noFill/>
          <a:ln/>
        </p:spPr>
        <p:txBody>
          <a:bodyPr wrap="square" rtlCol="0" anchor="ctr"/>
          <a:lstStyle/>
          <a:p>
            <a:pPr indent="0" marL="0">
              <a:buNone/>
            </a:pPr>
            <a:r>
              <a:rPr lang="en-US" sz="1250" dirty="0">
                <a:solidFill>
                  <a:srgbClr val="6B6B6B"/>
                </a:solidFill>
                <a:latin typeface="Calibri" pitchFamily="34" charset="0"/>
                <a:ea typeface="Calibri" pitchFamily="34" charset="-122"/>
                <a:cs typeface="Calibri" pitchFamily="34" charset="-120"/>
              </a:rPr>
              <a:t>A synthetic, Zudio-style dataset — 5 connected tables, about 2,000 rows each</a:t>
            </a:r>
            <a:endParaRPr lang="en-US" sz="1250" dirty="0"/>
          </a:p>
        </p:txBody>
      </p:sp>
      <p:sp>
        <p:nvSpPr>
          <p:cNvPr id="4" name="Shape 2"/>
          <p:cNvSpPr/>
          <p:nvPr/>
        </p:nvSpPr>
        <p:spPr>
          <a:xfrm>
            <a:off x="502920" y="1463040"/>
            <a:ext cx="1965960" cy="1371600"/>
          </a:xfrm>
          <a:prstGeom prst="rect">
            <a:avLst>
              <a:gd name="adj" fmla="val 5333"/>
            </a:avLst>
          </a:prstGeom>
          <a:solidFill>
            <a:srgbClr val="1A1A1A"/>
          </a:solidFill>
          <a:ln/>
        </p:spPr>
      </p:sp>
      <p:sp>
        <p:nvSpPr>
          <p:cNvPr id="5" name="Text 3"/>
          <p:cNvSpPr/>
          <p:nvPr/>
        </p:nvSpPr>
        <p:spPr>
          <a:xfrm>
            <a:off x="594360" y="1627632"/>
            <a:ext cx="1783080" cy="3657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Stores</a:t>
            </a:r>
            <a:endParaRPr lang="en-US" sz="1350" dirty="0"/>
          </a:p>
        </p:txBody>
      </p:sp>
      <p:sp>
        <p:nvSpPr>
          <p:cNvPr id="6" name="Text 4"/>
          <p:cNvSpPr/>
          <p:nvPr/>
        </p:nvSpPr>
        <p:spPr>
          <a:xfrm>
            <a:off x="594360" y="2011680"/>
            <a:ext cx="1783080" cy="640080"/>
          </a:xfrm>
          <a:prstGeom prst="rect">
            <a:avLst/>
          </a:prstGeom>
          <a:noFill/>
          <a:ln/>
        </p:spPr>
        <p:txBody>
          <a:bodyPr wrap="square" rtlCol="0" anchor="t"/>
          <a:lstStyle/>
          <a:p>
            <a:pPr algn="ctr" indent="0" marL="0">
              <a:buNone/>
            </a:pPr>
            <a:r>
              <a:rPr lang="en-US" sz="950" dirty="0">
                <a:solidFill>
                  <a:srgbClr val="CFCFCF"/>
                </a:solidFill>
                <a:latin typeface="Calibri" pitchFamily="34" charset="0"/>
                <a:ea typeface="Calibri" pitchFamily="34" charset="-122"/>
                <a:cs typeface="Calibri" pitchFamily="34" charset="-120"/>
              </a:rPr>
              <a:t>location, tier, staff</a:t>
            </a:r>
            <a:endParaRPr lang="en-US" sz="950" dirty="0"/>
          </a:p>
        </p:txBody>
      </p:sp>
      <p:sp>
        <p:nvSpPr>
          <p:cNvPr id="7" name="Text 5"/>
          <p:cNvSpPr/>
          <p:nvPr/>
        </p:nvSpPr>
        <p:spPr>
          <a:xfrm>
            <a:off x="2468880" y="1874520"/>
            <a:ext cx="228600" cy="365760"/>
          </a:xfrm>
          <a:prstGeom prst="rect">
            <a:avLst/>
          </a:prstGeom>
          <a:noFill/>
          <a:ln/>
        </p:spPr>
        <p:txBody>
          <a:bodyPr wrap="square" rtlCol="0" anchor="ctr"/>
          <a:lstStyle/>
          <a:p>
            <a:pPr algn="ctr" indent="0" marL="0">
              <a:buNone/>
            </a:pPr>
            <a:r>
              <a:rPr lang="en-US" sz="1500" dirty="0">
                <a:solidFill>
                  <a:srgbClr val="6B6B6B"/>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2697480" y="1463040"/>
            <a:ext cx="1965960" cy="1371600"/>
          </a:xfrm>
          <a:prstGeom prst="rect">
            <a:avLst>
              <a:gd name="adj" fmla="val 5333"/>
            </a:avLst>
          </a:prstGeom>
          <a:solidFill>
            <a:srgbClr val="1A1A1A"/>
          </a:solidFill>
          <a:ln/>
        </p:spPr>
      </p:sp>
      <p:sp>
        <p:nvSpPr>
          <p:cNvPr id="9" name="Text 7"/>
          <p:cNvSpPr/>
          <p:nvPr/>
        </p:nvSpPr>
        <p:spPr>
          <a:xfrm>
            <a:off x="2788920" y="1627632"/>
            <a:ext cx="1783080" cy="3657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Products</a:t>
            </a:r>
            <a:endParaRPr lang="en-US" sz="1350" dirty="0"/>
          </a:p>
        </p:txBody>
      </p:sp>
      <p:sp>
        <p:nvSpPr>
          <p:cNvPr id="10" name="Text 8"/>
          <p:cNvSpPr/>
          <p:nvPr/>
        </p:nvSpPr>
        <p:spPr>
          <a:xfrm>
            <a:off x="2788920" y="2011680"/>
            <a:ext cx="1783080" cy="640080"/>
          </a:xfrm>
          <a:prstGeom prst="rect">
            <a:avLst/>
          </a:prstGeom>
          <a:noFill/>
          <a:ln/>
        </p:spPr>
        <p:txBody>
          <a:bodyPr wrap="square" rtlCol="0" anchor="t"/>
          <a:lstStyle/>
          <a:p>
            <a:pPr algn="ctr" indent="0" marL="0">
              <a:buNone/>
            </a:pPr>
            <a:r>
              <a:rPr lang="en-US" sz="950" dirty="0">
                <a:solidFill>
                  <a:srgbClr val="CFCFCF"/>
                </a:solidFill>
                <a:latin typeface="Calibri" pitchFamily="34" charset="0"/>
                <a:ea typeface="Calibri" pitchFamily="34" charset="-122"/>
                <a:cs typeface="Calibri" pitchFamily="34" charset="-120"/>
              </a:rPr>
              <a:t>category, brand, price</a:t>
            </a:r>
            <a:endParaRPr lang="en-US" sz="950" dirty="0"/>
          </a:p>
        </p:txBody>
      </p:sp>
      <p:sp>
        <p:nvSpPr>
          <p:cNvPr id="11" name="Text 9"/>
          <p:cNvSpPr/>
          <p:nvPr/>
        </p:nvSpPr>
        <p:spPr>
          <a:xfrm>
            <a:off x="4663440" y="1874520"/>
            <a:ext cx="228600" cy="365760"/>
          </a:xfrm>
          <a:prstGeom prst="rect">
            <a:avLst/>
          </a:prstGeom>
          <a:noFill/>
          <a:ln/>
        </p:spPr>
        <p:txBody>
          <a:bodyPr wrap="square" rtlCol="0" anchor="ctr"/>
          <a:lstStyle/>
          <a:p>
            <a:pPr algn="ctr" indent="0" marL="0">
              <a:buNone/>
            </a:pPr>
            <a:r>
              <a:rPr lang="en-US" sz="1500" dirty="0">
                <a:solidFill>
                  <a:srgbClr val="6B6B6B"/>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4892040" y="1463040"/>
            <a:ext cx="1965960" cy="1371600"/>
          </a:xfrm>
          <a:prstGeom prst="rect">
            <a:avLst>
              <a:gd name="adj" fmla="val 5333"/>
            </a:avLst>
          </a:prstGeom>
          <a:solidFill>
            <a:srgbClr val="1A1A1A"/>
          </a:solidFill>
          <a:ln/>
        </p:spPr>
      </p:sp>
      <p:sp>
        <p:nvSpPr>
          <p:cNvPr id="13" name="Text 11"/>
          <p:cNvSpPr/>
          <p:nvPr/>
        </p:nvSpPr>
        <p:spPr>
          <a:xfrm>
            <a:off x="4983480" y="1627632"/>
            <a:ext cx="1783080" cy="3657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Customers</a:t>
            </a:r>
            <a:endParaRPr lang="en-US" sz="1350" dirty="0"/>
          </a:p>
        </p:txBody>
      </p:sp>
      <p:sp>
        <p:nvSpPr>
          <p:cNvPr id="14" name="Text 12"/>
          <p:cNvSpPr/>
          <p:nvPr/>
        </p:nvSpPr>
        <p:spPr>
          <a:xfrm>
            <a:off x="4983480" y="2011680"/>
            <a:ext cx="1783080" cy="640080"/>
          </a:xfrm>
          <a:prstGeom prst="rect">
            <a:avLst/>
          </a:prstGeom>
          <a:noFill/>
          <a:ln/>
        </p:spPr>
        <p:txBody>
          <a:bodyPr wrap="square" rtlCol="0" anchor="t"/>
          <a:lstStyle/>
          <a:p>
            <a:pPr algn="ctr" indent="0" marL="0">
              <a:buNone/>
            </a:pPr>
            <a:r>
              <a:rPr lang="en-US" sz="950" dirty="0">
                <a:solidFill>
                  <a:srgbClr val="CFCFCF"/>
                </a:solidFill>
                <a:latin typeface="Calibri" pitchFamily="34" charset="0"/>
                <a:ea typeface="Calibri" pitchFamily="34" charset="-122"/>
                <a:cs typeface="Calibri" pitchFamily="34" charset="-120"/>
              </a:rPr>
              <a:t>city, state, signup</a:t>
            </a:r>
            <a:endParaRPr lang="en-US" sz="950" dirty="0"/>
          </a:p>
        </p:txBody>
      </p:sp>
      <p:sp>
        <p:nvSpPr>
          <p:cNvPr id="15" name="Text 13"/>
          <p:cNvSpPr/>
          <p:nvPr/>
        </p:nvSpPr>
        <p:spPr>
          <a:xfrm>
            <a:off x="6858000" y="1874520"/>
            <a:ext cx="228600" cy="365760"/>
          </a:xfrm>
          <a:prstGeom prst="rect">
            <a:avLst/>
          </a:prstGeom>
          <a:noFill/>
          <a:ln/>
        </p:spPr>
        <p:txBody>
          <a:bodyPr wrap="square" rtlCol="0" anchor="ctr"/>
          <a:lstStyle/>
          <a:p>
            <a:pPr algn="ctr" indent="0" marL="0">
              <a:buNone/>
            </a:pPr>
            <a:r>
              <a:rPr lang="en-US" sz="1500" dirty="0">
                <a:solidFill>
                  <a:srgbClr val="6B6B6B"/>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7086600" y="1463040"/>
            <a:ext cx="1965960" cy="1371600"/>
          </a:xfrm>
          <a:prstGeom prst="rect">
            <a:avLst>
              <a:gd name="adj" fmla="val 5333"/>
            </a:avLst>
          </a:prstGeom>
          <a:solidFill>
            <a:srgbClr val="1A1A1A"/>
          </a:solidFill>
          <a:ln/>
        </p:spPr>
      </p:sp>
      <p:sp>
        <p:nvSpPr>
          <p:cNvPr id="17" name="Text 15"/>
          <p:cNvSpPr/>
          <p:nvPr/>
        </p:nvSpPr>
        <p:spPr>
          <a:xfrm>
            <a:off x="7178040" y="1627632"/>
            <a:ext cx="1783080" cy="3657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Orders</a:t>
            </a:r>
            <a:endParaRPr lang="en-US" sz="1350" dirty="0"/>
          </a:p>
        </p:txBody>
      </p:sp>
      <p:sp>
        <p:nvSpPr>
          <p:cNvPr id="18" name="Text 16"/>
          <p:cNvSpPr/>
          <p:nvPr/>
        </p:nvSpPr>
        <p:spPr>
          <a:xfrm>
            <a:off x="7178040" y="2011680"/>
            <a:ext cx="1783080" cy="640080"/>
          </a:xfrm>
          <a:prstGeom prst="rect">
            <a:avLst/>
          </a:prstGeom>
          <a:noFill/>
          <a:ln/>
        </p:spPr>
        <p:txBody>
          <a:bodyPr wrap="square" rtlCol="0" anchor="t"/>
          <a:lstStyle/>
          <a:p>
            <a:pPr algn="ctr" indent="0" marL="0">
              <a:buNone/>
            </a:pPr>
            <a:r>
              <a:rPr lang="en-US" sz="950" dirty="0">
                <a:solidFill>
                  <a:srgbClr val="CFCFCF"/>
                </a:solidFill>
                <a:latin typeface="Calibri" pitchFamily="34" charset="0"/>
                <a:ea typeface="Calibri" pitchFamily="34" charset="-122"/>
                <a:cs typeface="Calibri" pitchFamily="34" charset="-120"/>
              </a:rPr>
              <a:t>date, status, payment</a:t>
            </a:r>
            <a:endParaRPr lang="en-US" sz="950" dirty="0"/>
          </a:p>
        </p:txBody>
      </p:sp>
      <p:sp>
        <p:nvSpPr>
          <p:cNvPr id="19" name="Text 17"/>
          <p:cNvSpPr/>
          <p:nvPr/>
        </p:nvSpPr>
        <p:spPr>
          <a:xfrm>
            <a:off x="9052560" y="1874520"/>
            <a:ext cx="228600" cy="365760"/>
          </a:xfrm>
          <a:prstGeom prst="rect">
            <a:avLst/>
          </a:prstGeom>
          <a:noFill/>
          <a:ln/>
        </p:spPr>
        <p:txBody>
          <a:bodyPr wrap="square" rtlCol="0" anchor="ctr"/>
          <a:lstStyle/>
          <a:p>
            <a:pPr algn="ctr" indent="0" marL="0">
              <a:buNone/>
            </a:pPr>
            <a:r>
              <a:rPr lang="en-US" sz="1500" dirty="0">
                <a:solidFill>
                  <a:srgbClr val="6B6B6B"/>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9281160" y="1463040"/>
            <a:ext cx="1965960" cy="1371600"/>
          </a:xfrm>
          <a:prstGeom prst="rect">
            <a:avLst>
              <a:gd name="adj" fmla="val 5333"/>
            </a:avLst>
          </a:prstGeom>
          <a:solidFill>
            <a:srgbClr val="E63946"/>
          </a:solidFill>
          <a:ln/>
        </p:spPr>
      </p:sp>
      <p:sp>
        <p:nvSpPr>
          <p:cNvPr id="21" name="Text 19"/>
          <p:cNvSpPr/>
          <p:nvPr/>
        </p:nvSpPr>
        <p:spPr>
          <a:xfrm>
            <a:off x="9372600" y="1627632"/>
            <a:ext cx="1783080" cy="3657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Order Items</a:t>
            </a:r>
            <a:endParaRPr lang="en-US" sz="1350" dirty="0"/>
          </a:p>
        </p:txBody>
      </p:sp>
      <p:sp>
        <p:nvSpPr>
          <p:cNvPr id="22" name="Text 20"/>
          <p:cNvSpPr/>
          <p:nvPr/>
        </p:nvSpPr>
        <p:spPr>
          <a:xfrm>
            <a:off x="9372600" y="2011680"/>
            <a:ext cx="1783080" cy="640080"/>
          </a:xfrm>
          <a:prstGeom prst="rect">
            <a:avLst/>
          </a:prstGeom>
          <a:noFill/>
          <a:ln/>
        </p:spPr>
        <p:txBody>
          <a:bodyPr wrap="square" rtlCol="0" anchor="t"/>
          <a:lstStyle/>
          <a:p>
            <a:pPr algn="ctr" indent="0" marL="0">
              <a:buNone/>
            </a:pPr>
            <a:r>
              <a:rPr lang="en-US" sz="950" dirty="0">
                <a:solidFill>
                  <a:srgbClr val="FFE5E7"/>
                </a:solidFill>
                <a:latin typeface="Calibri" pitchFamily="34" charset="0"/>
                <a:ea typeface="Calibri" pitchFamily="34" charset="-122"/>
                <a:cs typeface="Calibri" pitchFamily="34" charset="-120"/>
              </a:rPr>
              <a:t>qty, price, profit</a:t>
            </a:r>
            <a:endParaRPr lang="en-US" sz="950" dirty="0"/>
          </a:p>
        </p:txBody>
      </p:sp>
      <p:sp>
        <p:nvSpPr>
          <p:cNvPr id="23" name="Text 21"/>
          <p:cNvSpPr/>
          <p:nvPr/>
        </p:nvSpPr>
        <p:spPr>
          <a:xfrm>
            <a:off x="502920" y="3200400"/>
            <a:ext cx="5486400" cy="365760"/>
          </a:xfrm>
          <a:prstGeom prst="rect">
            <a:avLst/>
          </a:prstGeom>
          <a:noFill/>
          <a:ln/>
        </p:spPr>
        <p:txBody>
          <a:bodyPr wrap="square"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How the tables connect</a:t>
            </a:r>
            <a:endParaRPr lang="en-US" sz="1500" dirty="0"/>
          </a:p>
        </p:txBody>
      </p:sp>
      <p:sp>
        <p:nvSpPr>
          <p:cNvPr id="24" name="Shape 22"/>
          <p:cNvSpPr/>
          <p:nvPr/>
        </p:nvSpPr>
        <p:spPr>
          <a:xfrm>
            <a:off x="502920" y="3703320"/>
            <a:ext cx="146304" cy="146304"/>
          </a:xfrm>
          <a:prstGeom prst="ellipse">
            <a:avLst/>
          </a:prstGeom>
          <a:solidFill>
            <a:srgbClr val="E63946"/>
          </a:solidFill>
          <a:ln/>
        </p:spPr>
      </p:sp>
      <p:sp>
        <p:nvSpPr>
          <p:cNvPr id="25" name="Text 23"/>
          <p:cNvSpPr/>
          <p:nvPr/>
        </p:nvSpPr>
        <p:spPr>
          <a:xfrm>
            <a:off x="777240" y="3602736"/>
            <a:ext cx="1024128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Customers → Orders, using customer_id</a:t>
            </a:r>
            <a:endParaRPr lang="en-US" sz="1200" dirty="0"/>
          </a:p>
        </p:txBody>
      </p:sp>
      <p:sp>
        <p:nvSpPr>
          <p:cNvPr id="26" name="Shape 24"/>
          <p:cNvSpPr/>
          <p:nvPr/>
        </p:nvSpPr>
        <p:spPr>
          <a:xfrm>
            <a:off x="502920" y="4160520"/>
            <a:ext cx="146304" cy="146304"/>
          </a:xfrm>
          <a:prstGeom prst="ellipse">
            <a:avLst/>
          </a:prstGeom>
          <a:solidFill>
            <a:srgbClr val="E63946"/>
          </a:solidFill>
          <a:ln/>
        </p:spPr>
      </p:sp>
      <p:sp>
        <p:nvSpPr>
          <p:cNvPr id="27" name="Text 25"/>
          <p:cNvSpPr/>
          <p:nvPr/>
        </p:nvSpPr>
        <p:spPr>
          <a:xfrm>
            <a:off x="777240" y="4059936"/>
            <a:ext cx="1024128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Stores → Orders, using store_id</a:t>
            </a:r>
            <a:endParaRPr lang="en-US" sz="1200" dirty="0"/>
          </a:p>
        </p:txBody>
      </p:sp>
      <p:sp>
        <p:nvSpPr>
          <p:cNvPr id="28" name="Shape 26"/>
          <p:cNvSpPr/>
          <p:nvPr/>
        </p:nvSpPr>
        <p:spPr>
          <a:xfrm>
            <a:off x="502920" y="4617720"/>
            <a:ext cx="146304" cy="146304"/>
          </a:xfrm>
          <a:prstGeom prst="ellipse">
            <a:avLst/>
          </a:prstGeom>
          <a:solidFill>
            <a:srgbClr val="E63946"/>
          </a:solidFill>
          <a:ln/>
        </p:spPr>
      </p:sp>
      <p:sp>
        <p:nvSpPr>
          <p:cNvPr id="29" name="Text 27"/>
          <p:cNvSpPr/>
          <p:nvPr/>
        </p:nvSpPr>
        <p:spPr>
          <a:xfrm>
            <a:off x="777240" y="4517136"/>
            <a:ext cx="1024128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Orders → Order Items, using order_id</a:t>
            </a:r>
            <a:endParaRPr lang="en-US" sz="1200" dirty="0"/>
          </a:p>
        </p:txBody>
      </p:sp>
      <p:sp>
        <p:nvSpPr>
          <p:cNvPr id="30" name="Shape 28"/>
          <p:cNvSpPr/>
          <p:nvPr/>
        </p:nvSpPr>
        <p:spPr>
          <a:xfrm>
            <a:off x="502920" y="5074920"/>
            <a:ext cx="146304" cy="146304"/>
          </a:xfrm>
          <a:prstGeom prst="ellipse">
            <a:avLst/>
          </a:prstGeom>
          <a:solidFill>
            <a:srgbClr val="E63946"/>
          </a:solidFill>
          <a:ln/>
        </p:spPr>
      </p:sp>
      <p:sp>
        <p:nvSpPr>
          <p:cNvPr id="31" name="Text 29"/>
          <p:cNvSpPr/>
          <p:nvPr/>
        </p:nvSpPr>
        <p:spPr>
          <a:xfrm>
            <a:off x="777240" y="4974336"/>
            <a:ext cx="1024128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Products → Order Items, using product_id</a:t>
            </a:r>
            <a:endParaRPr lang="en-US" sz="1200" dirty="0"/>
          </a:p>
        </p:txBody>
      </p:sp>
      <p:sp>
        <p:nvSpPr>
          <p:cNvPr id="32" name="Shape 30"/>
          <p:cNvSpPr/>
          <p:nvPr/>
        </p:nvSpPr>
        <p:spPr>
          <a:xfrm>
            <a:off x="502920" y="5532120"/>
            <a:ext cx="146304" cy="146304"/>
          </a:xfrm>
          <a:prstGeom prst="ellipse">
            <a:avLst/>
          </a:prstGeom>
          <a:solidFill>
            <a:srgbClr val="E63946"/>
          </a:solidFill>
          <a:ln/>
        </p:spPr>
      </p:sp>
      <p:sp>
        <p:nvSpPr>
          <p:cNvPr id="33" name="Text 31"/>
          <p:cNvSpPr/>
          <p:nvPr/>
        </p:nvSpPr>
        <p:spPr>
          <a:xfrm>
            <a:off x="777240" y="5431536"/>
            <a:ext cx="10241280" cy="457200"/>
          </a:xfrm>
          <a:prstGeom prst="rect">
            <a:avLst/>
          </a:prstGeom>
          <a:noFill/>
          <a:ln/>
        </p:spPr>
        <p:txBody>
          <a:bodyPr wrap="square" rtlCol="0" anchor="t"/>
          <a:lstStyle/>
          <a:p>
            <a:pPr indent="0" marL="0">
              <a:buNone/>
            </a:pPr>
            <a:r>
              <a:rPr lang="en-US" sz="1200" dirty="0">
                <a:solidFill>
                  <a:srgbClr val="2A2A2A"/>
                </a:solidFill>
                <a:latin typeface="Calibri" pitchFamily="34" charset="0"/>
                <a:ea typeface="Calibri" pitchFamily="34" charset="-122"/>
                <a:cs typeface="Calibri" pitchFamily="34" charset="-120"/>
              </a:rPr>
              <a:t>Date Table → Orders, using order date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10515600" cy="54864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Data cleaning and DAX measures</a:t>
            </a:r>
            <a:endParaRPr lang="en-US" sz="2600" dirty="0"/>
          </a:p>
        </p:txBody>
      </p:sp>
      <p:sp>
        <p:nvSpPr>
          <p:cNvPr id="3" name="Text 1"/>
          <p:cNvSpPr/>
          <p:nvPr/>
        </p:nvSpPr>
        <p:spPr>
          <a:xfrm>
            <a:off x="502920" y="1143000"/>
            <a:ext cx="5486400" cy="365760"/>
          </a:xfrm>
          <a:prstGeom prst="rect">
            <a:avLst/>
          </a:prstGeom>
          <a:noFill/>
          <a:ln/>
        </p:spPr>
        <p:txBody>
          <a:bodyPr wrap="square"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What we checked and cleaned</a:t>
            </a:r>
            <a:endParaRPr lang="en-US" sz="1500" dirty="0"/>
          </a:p>
        </p:txBody>
      </p:sp>
      <p:sp>
        <p:nvSpPr>
          <p:cNvPr id="4" name="Shape 2"/>
          <p:cNvSpPr/>
          <p:nvPr/>
        </p:nvSpPr>
        <p:spPr>
          <a:xfrm>
            <a:off x="502920" y="1691640"/>
            <a:ext cx="146304" cy="146304"/>
          </a:xfrm>
          <a:prstGeom prst="ellipse">
            <a:avLst/>
          </a:prstGeom>
          <a:solidFill>
            <a:srgbClr val="E63946"/>
          </a:solidFill>
          <a:ln/>
        </p:spPr>
      </p:sp>
      <p:sp>
        <p:nvSpPr>
          <p:cNvPr id="5" name="Text 3"/>
          <p:cNvSpPr/>
          <p:nvPr/>
        </p:nvSpPr>
        <p:spPr>
          <a:xfrm>
            <a:off x="777240" y="1591056"/>
            <a:ext cx="5394960" cy="457200"/>
          </a:xfrm>
          <a:prstGeom prst="rect">
            <a:avLst/>
          </a:prstGeom>
          <a:noFill/>
          <a:ln/>
        </p:spPr>
        <p:txBody>
          <a:bodyPr wrap="square" rtlCol="0" anchor="t"/>
          <a:lstStyle/>
          <a:p>
            <a:pPr indent="0" marL="0">
              <a:buNone/>
            </a:pPr>
            <a:r>
              <a:rPr lang="en-US" sz="1150" dirty="0">
                <a:solidFill>
                  <a:srgbClr val="2A2A2A"/>
                </a:solidFill>
                <a:latin typeface="Calibri" pitchFamily="34" charset="0"/>
                <a:ea typeface="Calibri" pitchFamily="34" charset="-122"/>
                <a:cs typeface="Calibri" pitchFamily="34" charset="-120"/>
              </a:rPr>
              <a:t>Checked column data types and data quality</a:t>
            </a:r>
            <a:endParaRPr lang="en-US" sz="1150" dirty="0"/>
          </a:p>
        </p:txBody>
      </p:sp>
      <p:sp>
        <p:nvSpPr>
          <p:cNvPr id="6" name="Shape 4"/>
          <p:cNvSpPr/>
          <p:nvPr/>
        </p:nvSpPr>
        <p:spPr>
          <a:xfrm>
            <a:off x="502920" y="2221992"/>
            <a:ext cx="146304" cy="146304"/>
          </a:xfrm>
          <a:prstGeom prst="ellipse">
            <a:avLst/>
          </a:prstGeom>
          <a:solidFill>
            <a:srgbClr val="E63946"/>
          </a:solidFill>
          <a:ln/>
        </p:spPr>
      </p:sp>
      <p:sp>
        <p:nvSpPr>
          <p:cNvPr id="7" name="Text 5"/>
          <p:cNvSpPr/>
          <p:nvPr/>
        </p:nvSpPr>
        <p:spPr>
          <a:xfrm>
            <a:off x="777240" y="2121408"/>
            <a:ext cx="5394960" cy="457200"/>
          </a:xfrm>
          <a:prstGeom prst="rect">
            <a:avLst/>
          </a:prstGeom>
          <a:noFill/>
          <a:ln/>
        </p:spPr>
        <p:txBody>
          <a:bodyPr wrap="square" rtlCol="0" anchor="t"/>
          <a:lstStyle/>
          <a:p>
            <a:pPr indent="0" marL="0">
              <a:buNone/>
            </a:pPr>
            <a:r>
              <a:rPr lang="en-US" sz="1150" dirty="0">
                <a:solidFill>
                  <a:srgbClr val="2A2A2A"/>
                </a:solidFill>
                <a:latin typeface="Calibri" pitchFamily="34" charset="0"/>
                <a:ea typeface="Calibri" pitchFamily="34" charset="-122"/>
                <a:cs typeface="Calibri" pitchFamily="34" charset="-120"/>
              </a:rPr>
              <a:t>Found and handled empty and missing values</a:t>
            </a:r>
            <a:endParaRPr lang="en-US" sz="1150" dirty="0"/>
          </a:p>
        </p:txBody>
      </p:sp>
      <p:sp>
        <p:nvSpPr>
          <p:cNvPr id="8" name="Shape 6"/>
          <p:cNvSpPr/>
          <p:nvPr/>
        </p:nvSpPr>
        <p:spPr>
          <a:xfrm>
            <a:off x="502920" y="2752344"/>
            <a:ext cx="146304" cy="146304"/>
          </a:xfrm>
          <a:prstGeom prst="ellipse">
            <a:avLst/>
          </a:prstGeom>
          <a:solidFill>
            <a:srgbClr val="E63946"/>
          </a:solidFill>
          <a:ln/>
        </p:spPr>
      </p:sp>
      <p:sp>
        <p:nvSpPr>
          <p:cNvPr id="9" name="Text 7"/>
          <p:cNvSpPr/>
          <p:nvPr/>
        </p:nvSpPr>
        <p:spPr>
          <a:xfrm>
            <a:off x="777240" y="2651760"/>
            <a:ext cx="5394960" cy="457200"/>
          </a:xfrm>
          <a:prstGeom prst="rect">
            <a:avLst/>
          </a:prstGeom>
          <a:noFill/>
          <a:ln/>
        </p:spPr>
        <p:txBody>
          <a:bodyPr wrap="square" rtlCol="0" anchor="t"/>
          <a:lstStyle/>
          <a:p>
            <a:pPr indent="0" marL="0">
              <a:buNone/>
            </a:pPr>
            <a:r>
              <a:rPr lang="en-US" sz="1150" dirty="0">
                <a:solidFill>
                  <a:srgbClr val="2A2A2A"/>
                </a:solidFill>
                <a:latin typeface="Calibri" pitchFamily="34" charset="0"/>
                <a:ea typeface="Calibri" pitchFamily="34" charset="-122"/>
                <a:cs typeface="Calibri" pitchFamily="34" charset="-120"/>
              </a:rPr>
              <a:t>Found and fixed duplicate ID numbers</a:t>
            </a:r>
            <a:endParaRPr lang="en-US" sz="1150" dirty="0"/>
          </a:p>
        </p:txBody>
      </p:sp>
      <p:sp>
        <p:nvSpPr>
          <p:cNvPr id="10" name="Shape 8"/>
          <p:cNvSpPr/>
          <p:nvPr/>
        </p:nvSpPr>
        <p:spPr>
          <a:xfrm>
            <a:off x="502920" y="3282696"/>
            <a:ext cx="146304" cy="146304"/>
          </a:xfrm>
          <a:prstGeom prst="ellipse">
            <a:avLst/>
          </a:prstGeom>
          <a:solidFill>
            <a:srgbClr val="E63946"/>
          </a:solidFill>
          <a:ln/>
        </p:spPr>
      </p:sp>
      <p:sp>
        <p:nvSpPr>
          <p:cNvPr id="11" name="Text 9"/>
          <p:cNvSpPr/>
          <p:nvPr/>
        </p:nvSpPr>
        <p:spPr>
          <a:xfrm>
            <a:off x="777240" y="3182112"/>
            <a:ext cx="5394960" cy="457200"/>
          </a:xfrm>
          <a:prstGeom prst="rect">
            <a:avLst/>
          </a:prstGeom>
          <a:noFill/>
          <a:ln/>
        </p:spPr>
        <p:txBody>
          <a:bodyPr wrap="square" rtlCol="0" anchor="t"/>
          <a:lstStyle/>
          <a:p>
            <a:pPr indent="0" marL="0">
              <a:buNone/>
            </a:pPr>
            <a:r>
              <a:rPr lang="en-US" sz="1150" dirty="0">
                <a:solidFill>
                  <a:srgbClr val="2A2A2A"/>
                </a:solidFill>
                <a:latin typeface="Calibri" pitchFamily="34" charset="0"/>
                <a:ea typeface="Calibri" pitchFamily="34" charset="-122"/>
                <a:cs typeface="Calibri" pitchFamily="34" charset="-120"/>
              </a:rPr>
              <a:t>Made text values consistent (e.g. payment method)</a:t>
            </a:r>
            <a:endParaRPr lang="en-US" sz="1150" dirty="0"/>
          </a:p>
        </p:txBody>
      </p:sp>
      <p:sp>
        <p:nvSpPr>
          <p:cNvPr id="12" name="Shape 10"/>
          <p:cNvSpPr/>
          <p:nvPr/>
        </p:nvSpPr>
        <p:spPr>
          <a:xfrm>
            <a:off x="502920" y="3813048"/>
            <a:ext cx="146304" cy="146304"/>
          </a:xfrm>
          <a:prstGeom prst="ellipse">
            <a:avLst/>
          </a:prstGeom>
          <a:solidFill>
            <a:srgbClr val="E63946"/>
          </a:solidFill>
          <a:ln/>
        </p:spPr>
      </p:sp>
      <p:sp>
        <p:nvSpPr>
          <p:cNvPr id="13" name="Text 11"/>
          <p:cNvSpPr/>
          <p:nvPr/>
        </p:nvSpPr>
        <p:spPr>
          <a:xfrm>
            <a:off x="777240" y="3712464"/>
            <a:ext cx="5394960" cy="457200"/>
          </a:xfrm>
          <a:prstGeom prst="rect">
            <a:avLst/>
          </a:prstGeom>
          <a:noFill/>
          <a:ln/>
        </p:spPr>
        <p:txBody>
          <a:bodyPr wrap="square" rtlCol="0" anchor="t"/>
          <a:lstStyle/>
          <a:p>
            <a:pPr indent="0" marL="0">
              <a:buNone/>
            </a:pPr>
            <a:r>
              <a:rPr lang="en-US" sz="1150" dirty="0">
                <a:solidFill>
                  <a:srgbClr val="2A2A2A"/>
                </a:solidFill>
                <a:latin typeface="Calibri" pitchFamily="34" charset="0"/>
                <a:ea typeface="Calibri" pitchFamily="34" charset="-122"/>
                <a:cs typeface="Calibri" pitchFamily="34" charset="-120"/>
              </a:rPr>
              <a:t>Checked primary and foreign key relationships</a:t>
            </a:r>
            <a:endParaRPr lang="en-US" sz="1150" dirty="0"/>
          </a:p>
        </p:txBody>
      </p:sp>
      <p:sp>
        <p:nvSpPr>
          <p:cNvPr id="14" name="Shape 12"/>
          <p:cNvSpPr/>
          <p:nvPr/>
        </p:nvSpPr>
        <p:spPr>
          <a:xfrm>
            <a:off x="502920" y="4343400"/>
            <a:ext cx="146304" cy="146304"/>
          </a:xfrm>
          <a:prstGeom prst="ellipse">
            <a:avLst/>
          </a:prstGeom>
          <a:solidFill>
            <a:srgbClr val="E63946"/>
          </a:solidFill>
          <a:ln/>
        </p:spPr>
      </p:sp>
      <p:sp>
        <p:nvSpPr>
          <p:cNvPr id="15" name="Text 13"/>
          <p:cNvSpPr/>
          <p:nvPr/>
        </p:nvSpPr>
        <p:spPr>
          <a:xfrm>
            <a:off x="777240" y="4242816"/>
            <a:ext cx="5394960" cy="457200"/>
          </a:xfrm>
          <a:prstGeom prst="rect">
            <a:avLst/>
          </a:prstGeom>
          <a:noFill/>
          <a:ln/>
        </p:spPr>
        <p:txBody>
          <a:bodyPr wrap="square" rtlCol="0" anchor="t"/>
          <a:lstStyle/>
          <a:p>
            <a:pPr indent="0" marL="0">
              <a:buNone/>
            </a:pPr>
            <a:r>
              <a:rPr lang="en-US" sz="1150" dirty="0">
                <a:solidFill>
                  <a:srgbClr val="2A2A2A"/>
                </a:solidFill>
                <a:latin typeface="Calibri" pitchFamily="34" charset="0"/>
                <a:ea typeface="Calibri" pitchFamily="34" charset="-122"/>
                <a:cs typeface="Calibri" pitchFamily="34" charset="-120"/>
              </a:rPr>
              <a:t>Built a Date table for time-based analysis</a:t>
            </a:r>
            <a:endParaRPr lang="en-US" sz="1150" dirty="0"/>
          </a:p>
        </p:txBody>
      </p:sp>
      <p:sp>
        <p:nvSpPr>
          <p:cNvPr id="16" name="Shape 14"/>
          <p:cNvSpPr/>
          <p:nvPr/>
        </p:nvSpPr>
        <p:spPr>
          <a:xfrm>
            <a:off x="6675120" y="1143000"/>
            <a:ext cx="4983480" cy="3931920"/>
          </a:xfrm>
          <a:prstGeom prst="rect">
            <a:avLst>
              <a:gd name="adj" fmla="val 1395"/>
            </a:avLst>
          </a:prstGeom>
          <a:solidFill>
            <a:srgbClr val="1A1A1A"/>
          </a:solidFill>
          <a:ln/>
        </p:spPr>
      </p:sp>
      <p:sp>
        <p:nvSpPr>
          <p:cNvPr id="17" name="Text 15"/>
          <p:cNvSpPr/>
          <p:nvPr/>
        </p:nvSpPr>
        <p:spPr>
          <a:xfrm>
            <a:off x="6903720" y="1325880"/>
            <a:ext cx="4572000" cy="365760"/>
          </a:xfrm>
          <a:prstGeom prst="rect">
            <a:avLst/>
          </a:prstGeom>
          <a:noFill/>
          <a:ln/>
        </p:spPr>
        <p:txBody>
          <a:bodyPr wrap="square" rtlCol="0" anchor="ctr"/>
          <a:lstStyle/>
          <a:p>
            <a:pPr indent="0" marL="0">
              <a:buNone/>
            </a:pPr>
            <a:r>
              <a:rPr lang="en-US" sz="1400" b="1" dirty="0">
                <a:solidFill>
                  <a:srgbClr val="E63946"/>
                </a:solidFill>
                <a:latin typeface="Calibri" pitchFamily="34" charset="0"/>
                <a:ea typeface="Calibri" pitchFamily="34" charset="-122"/>
                <a:cs typeface="Calibri" pitchFamily="34" charset="-120"/>
              </a:rPr>
              <a:t>DAX measures, by area</a:t>
            </a:r>
            <a:endParaRPr lang="en-US" sz="1400" dirty="0"/>
          </a:p>
        </p:txBody>
      </p:sp>
      <p:sp>
        <p:nvSpPr>
          <p:cNvPr id="18" name="Text 16"/>
          <p:cNvSpPr/>
          <p:nvPr/>
        </p:nvSpPr>
        <p:spPr>
          <a:xfrm>
            <a:off x="6903720" y="1828800"/>
            <a:ext cx="44805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Sales</a:t>
            </a:r>
            <a:endParaRPr lang="en-US" sz="1200" dirty="0"/>
          </a:p>
        </p:txBody>
      </p:sp>
      <p:sp>
        <p:nvSpPr>
          <p:cNvPr id="19" name="Text 17"/>
          <p:cNvSpPr/>
          <p:nvPr/>
        </p:nvSpPr>
        <p:spPr>
          <a:xfrm>
            <a:off x="6903720" y="2103120"/>
            <a:ext cx="4480560" cy="320040"/>
          </a:xfrm>
          <a:prstGeom prst="rect">
            <a:avLst/>
          </a:prstGeom>
          <a:noFill/>
          <a:ln/>
        </p:spPr>
        <p:txBody>
          <a:bodyPr wrap="square" rtlCol="0" anchor="ctr"/>
          <a:lstStyle/>
          <a:p>
            <a:pPr indent="0" marL="0">
              <a:buNone/>
            </a:pPr>
            <a:r>
              <a:rPr lang="en-US" sz="1050" dirty="0">
                <a:solidFill>
                  <a:srgbClr val="CFCFCF"/>
                </a:solidFill>
                <a:latin typeface="Calibri" pitchFamily="34" charset="0"/>
                <a:ea typeface="Calibri" pitchFamily="34" charset="-122"/>
                <a:cs typeface="Calibri" pitchFamily="34" charset="-120"/>
              </a:rPr>
              <a:t>Total Sales, Total Profit, Avg Selling Price</a:t>
            </a:r>
            <a:endParaRPr lang="en-US" sz="1050" dirty="0"/>
          </a:p>
        </p:txBody>
      </p:sp>
      <p:sp>
        <p:nvSpPr>
          <p:cNvPr id="20" name="Text 18"/>
          <p:cNvSpPr/>
          <p:nvPr/>
        </p:nvSpPr>
        <p:spPr>
          <a:xfrm>
            <a:off x="6903720" y="2423160"/>
            <a:ext cx="44805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Orders</a:t>
            </a:r>
            <a:endParaRPr lang="en-US" sz="1200" dirty="0"/>
          </a:p>
        </p:txBody>
      </p:sp>
      <p:sp>
        <p:nvSpPr>
          <p:cNvPr id="21" name="Text 19"/>
          <p:cNvSpPr/>
          <p:nvPr/>
        </p:nvSpPr>
        <p:spPr>
          <a:xfrm>
            <a:off x="6903720" y="2697480"/>
            <a:ext cx="4480560" cy="320040"/>
          </a:xfrm>
          <a:prstGeom prst="rect">
            <a:avLst/>
          </a:prstGeom>
          <a:noFill/>
          <a:ln/>
        </p:spPr>
        <p:txBody>
          <a:bodyPr wrap="square" rtlCol="0" anchor="ctr"/>
          <a:lstStyle/>
          <a:p>
            <a:pPr indent="0" marL="0">
              <a:buNone/>
            </a:pPr>
            <a:r>
              <a:rPr lang="en-US" sz="1050" dirty="0">
                <a:solidFill>
                  <a:srgbClr val="CFCFCF"/>
                </a:solidFill>
                <a:latin typeface="Calibri" pitchFamily="34" charset="0"/>
                <a:ea typeface="Calibri" pitchFamily="34" charset="-122"/>
                <a:cs typeface="Calibri" pitchFamily="34" charset="-120"/>
              </a:rPr>
              <a:t>Total Orders, Completion Rate %, Return Rate %</a:t>
            </a:r>
            <a:endParaRPr lang="en-US" sz="1050" dirty="0"/>
          </a:p>
        </p:txBody>
      </p:sp>
      <p:sp>
        <p:nvSpPr>
          <p:cNvPr id="22" name="Text 20"/>
          <p:cNvSpPr/>
          <p:nvPr/>
        </p:nvSpPr>
        <p:spPr>
          <a:xfrm>
            <a:off x="6903720" y="3017520"/>
            <a:ext cx="44805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Products</a:t>
            </a:r>
            <a:endParaRPr lang="en-US" sz="1200" dirty="0"/>
          </a:p>
        </p:txBody>
      </p:sp>
      <p:sp>
        <p:nvSpPr>
          <p:cNvPr id="23" name="Text 21"/>
          <p:cNvSpPr/>
          <p:nvPr/>
        </p:nvSpPr>
        <p:spPr>
          <a:xfrm>
            <a:off x="6903720" y="3291840"/>
            <a:ext cx="4480560" cy="320040"/>
          </a:xfrm>
          <a:prstGeom prst="rect">
            <a:avLst/>
          </a:prstGeom>
          <a:noFill/>
          <a:ln/>
        </p:spPr>
        <p:txBody>
          <a:bodyPr wrap="square" rtlCol="0" anchor="ctr"/>
          <a:lstStyle/>
          <a:p>
            <a:pPr indent="0" marL="0">
              <a:buNone/>
            </a:pPr>
            <a:r>
              <a:rPr lang="en-US" sz="1050" dirty="0">
                <a:solidFill>
                  <a:srgbClr val="CFCFCF"/>
                </a:solidFill>
                <a:latin typeface="Calibri" pitchFamily="34" charset="0"/>
                <a:ea typeface="Calibri" pitchFamily="34" charset="-122"/>
                <a:cs typeface="Calibri" pitchFamily="34" charset="-120"/>
              </a:rPr>
              <a:t>Total Products, Categories, Brands</a:t>
            </a:r>
            <a:endParaRPr lang="en-US" sz="1050" dirty="0"/>
          </a:p>
        </p:txBody>
      </p:sp>
      <p:sp>
        <p:nvSpPr>
          <p:cNvPr id="24" name="Text 22"/>
          <p:cNvSpPr/>
          <p:nvPr/>
        </p:nvSpPr>
        <p:spPr>
          <a:xfrm>
            <a:off x="6903720" y="3611880"/>
            <a:ext cx="44805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Stores</a:t>
            </a:r>
            <a:endParaRPr lang="en-US" sz="1200" dirty="0"/>
          </a:p>
        </p:txBody>
      </p:sp>
      <p:sp>
        <p:nvSpPr>
          <p:cNvPr id="25" name="Text 23"/>
          <p:cNvSpPr/>
          <p:nvPr/>
        </p:nvSpPr>
        <p:spPr>
          <a:xfrm>
            <a:off x="6903720" y="3886200"/>
            <a:ext cx="4480560" cy="320040"/>
          </a:xfrm>
          <a:prstGeom prst="rect">
            <a:avLst/>
          </a:prstGeom>
          <a:noFill/>
          <a:ln/>
        </p:spPr>
        <p:txBody>
          <a:bodyPr wrap="square" rtlCol="0" anchor="ctr"/>
          <a:lstStyle/>
          <a:p>
            <a:pPr indent="0" marL="0">
              <a:buNone/>
            </a:pPr>
            <a:r>
              <a:rPr lang="en-US" sz="1050" dirty="0">
                <a:solidFill>
                  <a:srgbClr val="CFCFCF"/>
                </a:solidFill>
                <a:latin typeface="Calibri" pitchFamily="34" charset="0"/>
                <a:ea typeface="Calibri" pitchFamily="34" charset="-122"/>
                <a:cs typeface="Calibri" pitchFamily="34" charset="-120"/>
              </a:rPr>
              <a:t>Total Stores, Staff, Selling Area</a:t>
            </a:r>
            <a:endParaRPr lang="en-US" sz="1050" dirty="0"/>
          </a:p>
        </p:txBody>
      </p:sp>
      <p:sp>
        <p:nvSpPr>
          <p:cNvPr id="26" name="Text 24"/>
          <p:cNvSpPr/>
          <p:nvPr/>
        </p:nvSpPr>
        <p:spPr>
          <a:xfrm>
            <a:off x="6903720" y="4206240"/>
            <a:ext cx="44805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Customers</a:t>
            </a:r>
            <a:endParaRPr lang="en-US" sz="1200" dirty="0"/>
          </a:p>
        </p:txBody>
      </p:sp>
      <p:sp>
        <p:nvSpPr>
          <p:cNvPr id="27" name="Text 25"/>
          <p:cNvSpPr/>
          <p:nvPr/>
        </p:nvSpPr>
        <p:spPr>
          <a:xfrm>
            <a:off x="6903720" y="4480560"/>
            <a:ext cx="4480560" cy="320040"/>
          </a:xfrm>
          <a:prstGeom prst="rect">
            <a:avLst/>
          </a:prstGeom>
          <a:noFill/>
          <a:ln/>
        </p:spPr>
        <p:txBody>
          <a:bodyPr wrap="square" rtlCol="0" anchor="ctr"/>
          <a:lstStyle/>
          <a:p>
            <a:pPr indent="0" marL="0">
              <a:buNone/>
            </a:pPr>
            <a:r>
              <a:rPr lang="en-US" sz="1050" dirty="0">
                <a:solidFill>
                  <a:srgbClr val="CFCFCF"/>
                </a:solidFill>
                <a:latin typeface="Calibri" pitchFamily="34" charset="0"/>
                <a:ea typeface="Calibri" pitchFamily="34" charset="-122"/>
                <a:cs typeface="Calibri" pitchFamily="34" charset="-120"/>
              </a:rPr>
              <a:t>Total Customers, Cities, States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Dashboard 1 — Sales Overview</a:t>
            </a:r>
            <a:endParaRPr lang="en-US" sz="2400" dirty="0"/>
          </a:p>
        </p:txBody>
      </p:sp>
      <p:sp>
        <p:nvSpPr>
          <p:cNvPr id="3" name="Text 1"/>
          <p:cNvSpPr/>
          <p:nvPr/>
        </p:nvSpPr>
        <p:spPr>
          <a:xfrm>
            <a:off x="502920" y="841248"/>
            <a:ext cx="10789920" cy="320040"/>
          </a:xfrm>
          <a:prstGeom prst="rect">
            <a:avLst/>
          </a:prstGeom>
          <a:noFill/>
          <a:ln/>
        </p:spPr>
        <p:txBody>
          <a:bodyPr wrap="square" rtlCol="0" anchor="ctr"/>
          <a:lstStyle/>
          <a:p>
            <a:pPr indent="0" marL="0">
              <a:buNone/>
            </a:pPr>
            <a:r>
              <a:rPr lang="en-US" sz="1250" dirty="0">
                <a:solidFill>
                  <a:srgbClr val="2A2A2A"/>
                </a:solidFill>
                <a:latin typeface="Calibri" pitchFamily="34" charset="0"/>
                <a:ea typeface="Calibri" pitchFamily="34" charset="-122"/>
                <a:cs typeface="Calibri" pitchFamily="34" charset="-120"/>
              </a:rPr>
              <a:t>A high-level view of the whole business: sales, profit, and order health in one place.</a:t>
            </a:r>
            <a:endParaRPr lang="en-US" sz="1250" dirty="0"/>
          </a:p>
        </p:txBody>
      </p:sp>
      <p:sp>
        <p:nvSpPr>
          <p:cNvPr id="4" name="Text 2"/>
          <p:cNvSpPr/>
          <p:nvPr/>
        </p:nvSpPr>
        <p:spPr>
          <a:xfrm>
            <a:off x="502920" y="1133856"/>
            <a:ext cx="10789920" cy="320040"/>
          </a:xfrm>
          <a:prstGeom prst="rect">
            <a:avLst/>
          </a:prstGeom>
          <a:noFill/>
          <a:ln/>
        </p:spPr>
        <p:txBody>
          <a:bodyPr wrap="square"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Business question: How is the overall business performing?</a:t>
            </a:r>
            <a:endParaRPr lang="en-US" sz="1150" dirty="0"/>
          </a:p>
        </p:txBody>
      </p:sp>
      <p:pic>
        <p:nvPicPr>
          <p:cNvPr id="5" name="Image 0" descr="/mnt/user-data/uploads/Screenshot_2026-08-19_210138.png">    </p:cNvPr>
          <p:cNvPicPr>
            <a:picLocks noChangeAspect="1"/>
          </p:cNvPicPr>
          <p:nvPr/>
        </p:nvPicPr>
        <p:blipFill>
          <a:blip r:embed="rId1"/>
          <a:stretch>
            <a:fillRect/>
          </a:stretch>
        </p:blipFill>
        <p:spPr>
          <a:xfrm>
            <a:off x="1965960" y="1536192"/>
            <a:ext cx="8229600" cy="4645152"/>
          </a:xfrm>
          <a:prstGeom prst="rect">
            <a:avLst/>
          </a:prstGeom>
        </p:spPr>
      </p:pic>
      <p:sp>
        <p:nvSpPr>
          <p:cNvPr id="6" name="Shape 3"/>
          <p:cNvSpPr/>
          <p:nvPr/>
        </p:nvSpPr>
        <p:spPr>
          <a:xfrm>
            <a:off x="502920" y="6263640"/>
            <a:ext cx="11155680" cy="411480"/>
          </a:xfrm>
          <a:prstGeom prst="rect">
            <a:avLst/>
          </a:prstGeom>
          <a:solidFill>
            <a:srgbClr val="F4F4F4"/>
          </a:solidFill>
          <a:ln/>
        </p:spPr>
      </p:sp>
      <p:sp>
        <p:nvSpPr>
          <p:cNvPr id="7" name="Text 4"/>
          <p:cNvSpPr/>
          <p:nvPr/>
        </p:nvSpPr>
        <p:spPr>
          <a:xfrm>
            <a:off x="685800" y="6263640"/>
            <a:ext cx="10789920" cy="411480"/>
          </a:xfrm>
          <a:prstGeom prst="rect">
            <a:avLst/>
          </a:prstGeom>
          <a:noFill/>
          <a:ln/>
        </p:spPr>
        <p:txBody>
          <a:bodyPr wrap="square" rtlCol="0" anchor="ctr"/>
          <a:lstStyle/>
          <a:p>
            <a:pPr indent="0" marL="0">
              <a:buNone/>
            </a:pPr>
            <a:r>
              <a:rPr lang="en-US" sz="1000" dirty="0">
                <a:solidFill>
                  <a:srgbClr val="2A2A2A"/>
                </a:solidFill>
                <a:latin typeface="Calibri" pitchFamily="34" charset="0"/>
                <a:ea typeface="Calibri" pitchFamily="34" charset="-122"/>
                <a:cs typeface="Calibri" pitchFamily="34" charset="-120"/>
              </a:rPr>
              <a:t>Measures used: Total Sales  •  Total Profit  •  Total Orders  •  Completion Rate %  •  Return Rate %  •  Average Selling Price  •  Profit Margin %</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Dashboard 2 — Product Performance</a:t>
            </a:r>
            <a:endParaRPr lang="en-US" sz="2400" dirty="0"/>
          </a:p>
        </p:txBody>
      </p:sp>
      <p:sp>
        <p:nvSpPr>
          <p:cNvPr id="3" name="Text 1"/>
          <p:cNvSpPr/>
          <p:nvPr/>
        </p:nvSpPr>
        <p:spPr>
          <a:xfrm>
            <a:off x="502920" y="841248"/>
            <a:ext cx="10789920" cy="320040"/>
          </a:xfrm>
          <a:prstGeom prst="rect">
            <a:avLst/>
          </a:prstGeom>
          <a:noFill/>
          <a:ln/>
        </p:spPr>
        <p:txBody>
          <a:bodyPr wrap="square" rtlCol="0" anchor="ctr"/>
          <a:lstStyle/>
          <a:p>
            <a:pPr indent="0" marL="0">
              <a:buNone/>
            </a:pPr>
            <a:r>
              <a:rPr lang="en-US" sz="1250" dirty="0">
                <a:solidFill>
                  <a:srgbClr val="2A2A2A"/>
                </a:solidFill>
                <a:latin typeface="Calibri" pitchFamily="34" charset="0"/>
                <a:ea typeface="Calibri" pitchFamily="34" charset="-122"/>
                <a:cs typeface="Calibri" pitchFamily="34" charset="-120"/>
              </a:rPr>
              <a:t>Compares products, categories, and brands to see what is actually selling well.</a:t>
            </a:r>
            <a:endParaRPr lang="en-US" sz="1250" dirty="0"/>
          </a:p>
        </p:txBody>
      </p:sp>
      <p:sp>
        <p:nvSpPr>
          <p:cNvPr id="4" name="Text 2"/>
          <p:cNvSpPr/>
          <p:nvPr/>
        </p:nvSpPr>
        <p:spPr>
          <a:xfrm>
            <a:off x="502920" y="1133856"/>
            <a:ext cx="10789920" cy="320040"/>
          </a:xfrm>
          <a:prstGeom prst="rect">
            <a:avLst/>
          </a:prstGeom>
          <a:noFill/>
          <a:ln/>
        </p:spPr>
        <p:txBody>
          <a:bodyPr wrap="square"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Business question: Which products, categories, and brands are performing well?</a:t>
            </a:r>
            <a:endParaRPr lang="en-US" sz="1150" dirty="0"/>
          </a:p>
        </p:txBody>
      </p:sp>
      <p:pic>
        <p:nvPicPr>
          <p:cNvPr id="5" name="Image 0" descr="/mnt/user-data/uploads/Screenshot_2026-08-19_210205.png">    </p:cNvPr>
          <p:cNvPicPr>
            <a:picLocks noChangeAspect="1"/>
          </p:cNvPicPr>
          <p:nvPr/>
        </p:nvPicPr>
        <p:blipFill>
          <a:blip r:embed="rId1"/>
          <a:stretch>
            <a:fillRect/>
          </a:stretch>
        </p:blipFill>
        <p:spPr>
          <a:xfrm>
            <a:off x="1965960" y="1536192"/>
            <a:ext cx="8229600" cy="4645152"/>
          </a:xfrm>
          <a:prstGeom prst="rect">
            <a:avLst/>
          </a:prstGeom>
        </p:spPr>
      </p:pic>
      <p:sp>
        <p:nvSpPr>
          <p:cNvPr id="6" name="Shape 3"/>
          <p:cNvSpPr/>
          <p:nvPr/>
        </p:nvSpPr>
        <p:spPr>
          <a:xfrm>
            <a:off x="502920" y="6263640"/>
            <a:ext cx="11155680" cy="411480"/>
          </a:xfrm>
          <a:prstGeom prst="rect">
            <a:avLst/>
          </a:prstGeom>
          <a:solidFill>
            <a:srgbClr val="F4F4F4"/>
          </a:solidFill>
          <a:ln/>
        </p:spPr>
      </p:sp>
      <p:sp>
        <p:nvSpPr>
          <p:cNvPr id="7" name="Text 4"/>
          <p:cNvSpPr/>
          <p:nvPr/>
        </p:nvSpPr>
        <p:spPr>
          <a:xfrm>
            <a:off x="685800" y="6263640"/>
            <a:ext cx="10789920" cy="411480"/>
          </a:xfrm>
          <a:prstGeom prst="rect">
            <a:avLst/>
          </a:prstGeom>
          <a:noFill/>
          <a:ln/>
        </p:spPr>
        <p:txBody>
          <a:bodyPr wrap="square" rtlCol="0" anchor="ctr"/>
          <a:lstStyle/>
          <a:p>
            <a:pPr indent="0" marL="0">
              <a:buNone/>
            </a:pPr>
            <a:r>
              <a:rPr lang="en-US" sz="1000" dirty="0">
                <a:solidFill>
                  <a:srgbClr val="2A2A2A"/>
                </a:solidFill>
                <a:latin typeface="Calibri" pitchFamily="34" charset="0"/>
                <a:ea typeface="Calibri" pitchFamily="34" charset="-122"/>
                <a:cs typeface="Calibri" pitchFamily="34" charset="-120"/>
              </a:rPr>
              <a:t>Measures used: Total Products  •  Total Categories  •  Total Brands  •  Average Product Price  •  Total Sales  •  Profit Margin %</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Dashboard 3 — Store Performance</a:t>
            </a:r>
            <a:endParaRPr lang="en-US" sz="2400" dirty="0"/>
          </a:p>
        </p:txBody>
      </p:sp>
      <p:sp>
        <p:nvSpPr>
          <p:cNvPr id="3" name="Text 1"/>
          <p:cNvSpPr/>
          <p:nvPr/>
        </p:nvSpPr>
        <p:spPr>
          <a:xfrm>
            <a:off x="502920" y="841248"/>
            <a:ext cx="10789920" cy="320040"/>
          </a:xfrm>
          <a:prstGeom prst="rect">
            <a:avLst/>
          </a:prstGeom>
          <a:noFill/>
          <a:ln/>
        </p:spPr>
        <p:txBody>
          <a:bodyPr wrap="square" rtlCol="0" anchor="ctr"/>
          <a:lstStyle/>
          <a:p>
            <a:pPr indent="0" marL="0">
              <a:buNone/>
            </a:pPr>
            <a:r>
              <a:rPr lang="en-US" sz="1250" dirty="0">
                <a:solidFill>
                  <a:srgbClr val="2A2A2A"/>
                </a:solidFill>
                <a:latin typeface="Calibri" pitchFamily="34" charset="0"/>
                <a:ea typeface="Calibri" pitchFamily="34" charset="-122"/>
                <a:cs typeface="Calibri" pitchFamily="34" charset="-120"/>
              </a:rPr>
              <a:t>Compares stores against each other — by tier, location, staff, and sales.</a:t>
            </a:r>
            <a:endParaRPr lang="en-US" sz="1250" dirty="0"/>
          </a:p>
        </p:txBody>
      </p:sp>
      <p:sp>
        <p:nvSpPr>
          <p:cNvPr id="4" name="Text 2"/>
          <p:cNvSpPr/>
          <p:nvPr/>
        </p:nvSpPr>
        <p:spPr>
          <a:xfrm>
            <a:off x="502920" y="1133856"/>
            <a:ext cx="10789920" cy="320040"/>
          </a:xfrm>
          <a:prstGeom prst="rect">
            <a:avLst/>
          </a:prstGeom>
          <a:noFill/>
          <a:ln/>
        </p:spPr>
        <p:txBody>
          <a:bodyPr wrap="square"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Business question: Which stores are performing better, and how are store factors related to sales?</a:t>
            </a:r>
            <a:endParaRPr lang="en-US" sz="1150" dirty="0"/>
          </a:p>
        </p:txBody>
      </p:sp>
      <p:pic>
        <p:nvPicPr>
          <p:cNvPr id="5" name="Image 0" descr="/mnt/user-data/uploads/Screenshot_2026-08-19_210250.png">    </p:cNvPr>
          <p:cNvPicPr>
            <a:picLocks noChangeAspect="1"/>
          </p:cNvPicPr>
          <p:nvPr/>
        </p:nvPicPr>
        <p:blipFill>
          <a:blip r:embed="rId1"/>
          <a:stretch>
            <a:fillRect/>
          </a:stretch>
        </p:blipFill>
        <p:spPr>
          <a:xfrm>
            <a:off x="1965960" y="1536192"/>
            <a:ext cx="8229600" cy="4645152"/>
          </a:xfrm>
          <a:prstGeom prst="rect">
            <a:avLst/>
          </a:prstGeom>
        </p:spPr>
      </p:pic>
      <p:sp>
        <p:nvSpPr>
          <p:cNvPr id="6" name="Shape 3"/>
          <p:cNvSpPr/>
          <p:nvPr/>
        </p:nvSpPr>
        <p:spPr>
          <a:xfrm>
            <a:off x="502920" y="6263640"/>
            <a:ext cx="11155680" cy="411480"/>
          </a:xfrm>
          <a:prstGeom prst="rect">
            <a:avLst/>
          </a:prstGeom>
          <a:solidFill>
            <a:srgbClr val="F4F4F4"/>
          </a:solidFill>
          <a:ln/>
        </p:spPr>
      </p:sp>
      <p:sp>
        <p:nvSpPr>
          <p:cNvPr id="7" name="Text 4"/>
          <p:cNvSpPr/>
          <p:nvPr/>
        </p:nvSpPr>
        <p:spPr>
          <a:xfrm>
            <a:off x="685800" y="6263640"/>
            <a:ext cx="10789920" cy="411480"/>
          </a:xfrm>
          <a:prstGeom prst="rect">
            <a:avLst/>
          </a:prstGeom>
          <a:noFill/>
          <a:ln/>
        </p:spPr>
        <p:txBody>
          <a:bodyPr wrap="square" rtlCol="0" anchor="ctr"/>
          <a:lstStyle/>
          <a:p>
            <a:pPr indent="0" marL="0">
              <a:buNone/>
            </a:pPr>
            <a:r>
              <a:rPr lang="en-US" sz="1000" dirty="0">
                <a:solidFill>
                  <a:srgbClr val="2A2A2A"/>
                </a:solidFill>
                <a:latin typeface="Calibri" pitchFamily="34" charset="0"/>
                <a:ea typeface="Calibri" pitchFamily="34" charset="-122"/>
                <a:cs typeface="Calibri" pitchFamily="34" charset="-120"/>
              </a:rPr>
              <a:t>Measures used: Total Stores  •  Total Staff  •  Average Staff per Store  •  Total Selling Area  •  Total Sales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Dashboard 4 — Customer Insights</a:t>
            </a:r>
            <a:endParaRPr lang="en-US" sz="2400" dirty="0"/>
          </a:p>
        </p:txBody>
      </p:sp>
      <p:sp>
        <p:nvSpPr>
          <p:cNvPr id="3" name="Text 1"/>
          <p:cNvSpPr/>
          <p:nvPr/>
        </p:nvSpPr>
        <p:spPr>
          <a:xfrm>
            <a:off x="502920" y="841248"/>
            <a:ext cx="10789920" cy="320040"/>
          </a:xfrm>
          <a:prstGeom prst="rect">
            <a:avLst/>
          </a:prstGeom>
          <a:noFill/>
          <a:ln/>
        </p:spPr>
        <p:txBody>
          <a:bodyPr wrap="square" rtlCol="0" anchor="ctr"/>
          <a:lstStyle/>
          <a:p>
            <a:pPr indent="0" marL="0">
              <a:buNone/>
            </a:pPr>
            <a:r>
              <a:rPr lang="en-US" sz="1250" dirty="0">
                <a:solidFill>
                  <a:srgbClr val="2A2A2A"/>
                </a:solidFill>
                <a:latin typeface="Calibri" pitchFamily="34" charset="0"/>
                <a:ea typeface="Calibri" pitchFamily="34" charset="-122"/>
                <a:cs typeface="Calibri" pitchFamily="34" charset="-120"/>
              </a:rPr>
              <a:t>Shows who the customers are, where they come from, and how they shop.</a:t>
            </a:r>
            <a:endParaRPr lang="en-US" sz="1250" dirty="0"/>
          </a:p>
        </p:txBody>
      </p:sp>
      <p:sp>
        <p:nvSpPr>
          <p:cNvPr id="4" name="Text 2"/>
          <p:cNvSpPr/>
          <p:nvPr/>
        </p:nvSpPr>
        <p:spPr>
          <a:xfrm>
            <a:off x="502920" y="1133856"/>
            <a:ext cx="10789920" cy="320040"/>
          </a:xfrm>
          <a:prstGeom prst="rect">
            <a:avLst/>
          </a:prstGeom>
          <a:noFill/>
          <a:ln/>
        </p:spPr>
        <p:txBody>
          <a:bodyPr wrap="square"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Business question: Who are the customers, and how are they interacting with the business?</a:t>
            </a:r>
            <a:endParaRPr lang="en-US" sz="1150" dirty="0"/>
          </a:p>
        </p:txBody>
      </p:sp>
      <p:pic>
        <p:nvPicPr>
          <p:cNvPr id="5" name="Image 0" descr="/mnt/user-data/uploads/Screenshot_2026-08-19_210305.png">    </p:cNvPr>
          <p:cNvPicPr>
            <a:picLocks noChangeAspect="1"/>
          </p:cNvPicPr>
          <p:nvPr/>
        </p:nvPicPr>
        <p:blipFill>
          <a:blip r:embed="rId1"/>
          <a:stretch>
            <a:fillRect/>
          </a:stretch>
        </p:blipFill>
        <p:spPr>
          <a:xfrm>
            <a:off x="1965960" y="1536192"/>
            <a:ext cx="8229600" cy="4645152"/>
          </a:xfrm>
          <a:prstGeom prst="rect">
            <a:avLst/>
          </a:prstGeom>
        </p:spPr>
      </p:pic>
      <p:sp>
        <p:nvSpPr>
          <p:cNvPr id="6" name="Shape 3"/>
          <p:cNvSpPr/>
          <p:nvPr/>
        </p:nvSpPr>
        <p:spPr>
          <a:xfrm>
            <a:off x="502920" y="6263640"/>
            <a:ext cx="11155680" cy="411480"/>
          </a:xfrm>
          <a:prstGeom prst="rect">
            <a:avLst/>
          </a:prstGeom>
          <a:solidFill>
            <a:srgbClr val="F4F4F4"/>
          </a:solidFill>
          <a:ln/>
        </p:spPr>
      </p:sp>
      <p:sp>
        <p:nvSpPr>
          <p:cNvPr id="7" name="Text 4"/>
          <p:cNvSpPr/>
          <p:nvPr/>
        </p:nvSpPr>
        <p:spPr>
          <a:xfrm>
            <a:off x="685800" y="6263640"/>
            <a:ext cx="10789920" cy="411480"/>
          </a:xfrm>
          <a:prstGeom prst="rect">
            <a:avLst/>
          </a:prstGeom>
          <a:noFill/>
          <a:ln/>
        </p:spPr>
        <p:txBody>
          <a:bodyPr wrap="square" rtlCol="0" anchor="ctr"/>
          <a:lstStyle/>
          <a:p>
            <a:pPr indent="0" marL="0">
              <a:buNone/>
            </a:pPr>
            <a:r>
              <a:rPr lang="en-US" sz="1000" dirty="0">
                <a:solidFill>
                  <a:srgbClr val="2A2A2A"/>
                </a:solidFill>
                <a:latin typeface="Calibri" pitchFamily="34" charset="0"/>
                <a:ea typeface="Calibri" pitchFamily="34" charset="-122"/>
                <a:cs typeface="Calibri" pitchFamily="34" charset="-120"/>
              </a:rPr>
              <a:t>Measures used: Total Customers  •  Total Customer Cities  •  Total Customer States  •  Average Customers per State  •  Total Sales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02920" y="41148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insights and conclusion</a:t>
            </a:r>
            <a:endParaRPr lang="en-US" sz="2600" dirty="0"/>
          </a:p>
        </p:txBody>
      </p:sp>
      <p:sp>
        <p:nvSpPr>
          <p:cNvPr id="3" name="Shape 1"/>
          <p:cNvSpPr/>
          <p:nvPr/>
        </p:nvSpPr>
        <p:spPr>
          <a:xfrm>
            <a:off x="502920" y="1188720"/>
            <a:ext cx="146304" cy="146304"/>
          </a:xfrm>
          <a:prstGeom prst="ellipse">
            <a:avLst/>
          </a:prstGeom>
          <a:solidFill>
            <a:srgbClr val="E63946"/>
          </a:solidFill>
          <a:ln/>
        </p:spPr>
      </p:sp>
      <p:sp>
        <p:nvSpPr>
          <p:cNvPr id="4" name="Text 2"/>
          <p:cNvSpPr/>
          <p:nvPr/>
        </p:nvSpPr>
        <p:spPr>
          <a:xfrm>
            <a:off x="795528" y="1088136"/>
            <a:ext cx="10607040" cy="365760"/>
          </a:xfrm>
          <a:prstGeom prst="rect">
            <a:avLst/>
          </a:prstGeom>
          <a:noFill/>
          <a:ln/>
        </p:spPr>
        <p:txBody>
          <a:bodyPr wrap="square" rtlCol="0" anchor="ctr"/>
          <a:lstStyle/>
          <a:p>
            <a:pPr indent="0" marL="0">
              <a:buNone/>
            </a:pPr>
            <a:r>
              <a:rPr lang="en-US" sz="1300" dirty="0">
                <a:solidFill>
                  <a:srgbClr val="E0E0E0"/>
                </a:solidFill>
                <a:latin typeface="Calibri" pitchFamily="34" charset="0"/>
                <a:ea typeface="Calibri" pitchFamily="34" charset="-122"/>
                <a:cs typeface="Calibri" pitchFamily="34" charset="-120"/>
              </a:rPr>
              <a:t>See which products and categories bring in the most sales</a:t>
            </a:r>
            <a:endParaRPr lang="en-US" sz="1300" dirty="0"/>
          </a:p>
        </p:txBody>
      </p:sp>
      <p:sp>
        <p:nvSpPr>
          <p:cNvPr id="5" name="Shape 3"/>
          <p:cNvSpPr/>
          <p:nvPr/>
        </p:nvSpPr>
        <p:spPr>
          <a:xfrm>
            <a:off x="502920" y="1627632"/>
            <a:ext cx="146304" cy="146304"/>
          </a:xfrm>
          <a:prstGeom prst="ellipse">
            <a:avLst/>
          </a:prstGeom>
          <a:solidFill>
            <a:srgbClr val="E63946"/>
          </a:solidFill>
          <a:ln/>
        </p:spPr>
      </p:sp>
      <p:sp>
        <p:nvSpPr>
          <p:cNvPr id="6" name="Text 4"/>
          <p:cNvSpPr/>
          <p:nvPr/>
        </p:nvSpPr>
        <p:spPr>
          <a:xfrm>
            <a:off x="795528" y="1527048"/>
            <a:ext cx="10607040" cy="365760"/>
          </a:xfrm>
          <a:prstGeom prst="rect">
            <a:avLst/>
          </a:prstGeom>
          <a:noFill/>
          <a:ln/>
        </p:spPr>
        <p:txBody>
          <a:bodyPr wrap="square" rtlCol="0" anchor="ctr"/>
          <a:lstStyle/>
          <a:p>
            <a:pPr indent="0" marL="0">
              <a:buNone/>
            </a:pPr>
            <a:r>
              <a:rPr lang="en-US" sz="1300" dirty="0">
                <a:solidFill>
                  <a:srgbClr val="E0E0E0"/>
                </a:solidFill>
                <a:latin typeface="Calibri" pitchFamily="34" charset="0"/>
                <a:ea typeface="Calibri" pitchFamily="34" charset="-122"/>
                <a:cs typeface="Calibri" pitchFamily="34" charset="-120"/>
              </a:rPr>
              <a:t>Compare high- and low-performing stores</a:t>
            </a:r>
            <a:endParaRPr lang="en-US" sz="1300" dirty="0"/>
          </a:p>
        </p:txBody>
      </p:sp>
      <p:sp>
        <p:nvSpPr>
          <p:cNvPr id="7" name="Shape 5"/>
          <p:cNvSpPr/>
          <p:nvPr/>
        </p:nvSpPr>
        <p:spPr>
          <a:xfrm>
            <a:off x="502920" y="2066544"/>
            <a:ext cx="146304" cy="146304"/>
          </a:xfrm>
          <a:prstGeom prst="ellipse">
            <a:avLst/>
          </a:prstGeom>
          <a:solidFill>
            <a:srgbClr val="E63946"/>
          </a:solidFill>
          <a:ln/>
        </p:spPr>
      </p:sp>
      <p:sp>
        <p:nvSpPr>
          <p:cNvPr id="8" name="Text 6"/>
          <p:cNvSpPr/>
          <p:nvPr/>
        </p:nvSpPr>
        <p:spPr>
          <a:xfrm>
            <a:off x="795528" y="1965960"/>
            <a:ext cx="10607040" cy="365760"/>
          </a:xfrm>
          <a:prstGeom prst="rect">
            <a:avLst/>
          </a:prstGeom>
          <a:noFill/>
          <a:ln/>
        </p:spPr>
        <p:txBody>
          <a:bodyPr wrap="square" rtlCol="0" anchor="ctr"/>
          <a:lstStyle/>
          <a:p>
            <a:pPr indent="0" marL="0">
              <a:buNone/>
            </a:pPr>
            <a:r>
              <a:rPr lang="en-US" sz="1300" dirty="0">
                <a:solidFill>
                  <a:srgbClr val="E0E0E0"/>
                </a:solidFill>
                <a:latin typeface="Calibri" pitchFamily="34" charset="0"/>
                <a:ea typeface="Calibri" pitchFamily="34" charset="-122"/>
                <a:cs typeface="Calibri" pitchFamily="34" charset="-120"/>
              </a:rPr>
              <a:t>Track order status and payment method trends</a:t>
            </a:r>
            <a:endParaRPr lang="en-US" sz="1300" dirty="0"/>
          </a:p>
        </p:txBody>
      </p:sp>
      <p:sp>
        <p:nvSpPr>
          <p:cNvPr id="9" name="Shape 7"/>
          <p:cNvSpPr/>
          <p:nvPr/>
        </p:nvSpPr>
        <p:spPr>
          <a:xfrm>
            <a:off x="502920" y="2505456"/>
            <a:ext cx="146304" cy="146304"/>
          </a:xfrm>
          <a:prstGeom prst="ellipse">
            <a:avLst/>
          </a:prstGeom>
          <a:solidFill>
            <a:srgbClr val="E63946"/>
          </a:solidFill>
          <a:ln/>
        </p:spPr>
      </p:sp>
      <p:sp>
        <p:nvSpPr>
          <p:cNvPr id="10" name="Text 8"/>
          <p:cNvSpPr/>
          <p:nvPr/>
        </p:nvSpPr>
        <p:spPr>
          <a:xfrm>
            <a:off x="795528" y="2404872"/>
            <a:ext cx="10607040" cy="365760"/>
          </a:xfrm>
          <a:prstGeom prst="rect">
            <a:avLst/>
          </a:prstGeom>
          <a:noFill/>
          <a:ln/>
        </p:spPr>
        <p:txBody>
          <a:bodyPr wrap="square" rtlCol="0" anchor="ctr"/>
          <a:lstStyle/>
          <a:p>
            <a:pPr indent="0" marL="0">
              <a:buNone/>
            </a:pPr>
            <a:r>
              <a:rPr lang="en-US" sz="1300" dirty="0">
                <a:solidFill>
                  <a:srgbClr val="E0E0E0"/>
                </a:solidFill>
                <a:latin typeface="Calibri" pitchFamily="34" charset="0"/>
                <a:ea typeface="Calibri" pitchFamily="34" charset="-122"/>
                <a:cs typeface="Calibri" pitchFamily="34" charset="-120"/>
              </a:rPr>
              <a:t>Understand where customers come from and how they shop</a:t>
            </a:r>
            <a:endParaRPr lang="en-US" sz="1300" dirty="0"/>
          </a:p>
        </p:txBody>
      </p:sp>
      <p:sp>
        <p:nvSpPr>
          <p:cNvPr id="11" name="Shape 9"/>
          <p:cNvSpPr/>
          <p:nvPr/>
        </p:nvSpPr>
        <p:spPr>
          <a:xfrm>
            <a:off x="502920" y="3063240"/>
            <a:ext cx="11155680" cy="685800"/>
          </a:xfrm>
          <a:prstGeom prst="rect">
            <a:avLst>
              <a:gd name="adj" fmla="val 6667"/>
            </a:avLst>
          </a:prstGeom>
          <a:solidFill>
            <a:srgbClr val="262626"/>
          </a:solidFill>
          <a:ln/>
        </p:spPr>
      </p:sp>
      <p:sp>
        <p:nvSpPr>
          <p:cNvPr id="12" name="Text 10"/>
          <p:cNvSpPr/>
          <p:nvPr/>
        </p:nvSpPr>
        <p:spPr>
          <a:xfrm>
            <a:off x="731520" y="3063240"/>
            <a:ext cx="10698480" cy="685800"/>
          </a:xfrm>
          <a:prstGeom prst="rect">
            <a:avLst/>
          </a:prstGeom>
          <a:noFill/>
          <a:ln/>
        </p:spPr>
        <p:txBody>
          <a:bodyPr wrap="square"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Collect Data → Clean Data → Build SQL Database → Connect Tables → Create Measures → Build Dashboards → Get Insights</a:t>
            </a:r>
            <a:endParaRPr lang="en-US" sz="1200" dirty="0"/>
          </a:p>
        </p:txBody>
      </p:sp>
      <p:sp>
        <p:nvSpPr>
          <p:cNvPr id="13" name="Text 11"/>
          <p:cNvSpPr/>
          <p:nvPr/>
        </p:nvSpPr>
        <p:spPr>
          <a:xfrm>
            <a:off x="502920" y="4023360"/>
            <a:ext cx="5486400" cy="365760"/>
          </a:xfrm>
          <a:prstGeom prst="rect">
            <a:avLst/>
          </a:prstGeom>
          <a:noFill/>
          <a:ln/>
        </p:spPr>
        <p:txBody>
          <a:bodyPr wrap="square" rtlCol="0" anchor="ctr"/>
          <a:lstStyle/>
          <a:p>
            <a:pPr indent="0" marL="0">
              <a:buNone/>
            </a:pPr>
            <a:r>
              <a:rPr lang="en-US" sz="1500" b="1" dirty="0">
                <a:solidFill>
                  <a:srgbClr val="E63946"/>
                </a:solidFill>
                <a:latin typeface="Calibri" pitchFamily="34" charset="0"/>
                <a:ea typeface="Calibri" pitchFamily="34" charset="-122"/>
                <a:cs typeface="Calibri" pitchFamily="34" charset="-120"/>
              </a:rPr>
              <a:t>Conclusion</a:t>
            </a:r>
            <a:endParaRPr lang="en-US" sz="1500" dirty="0"/>
          </a:p>
        </p:txBody>
      </p:sp>
      <p:sp>
        <p:nvSpPr>
          <p:cNvPr id="14" name="Text 12"/>
          <p:cNvSpPr/>
          <p:nvPr/>
        </p:nvSpPr>
        <p:spPr>
          <a:xfrm>
            <a:off x="502920" y="4434840"/>
            <a:ext cx="10789920" cy="1097280"/>
          </a:xfrm>
          <a:prstGeom prst="rect">
            <a:avLst/>
          </a:prstGeom>
          <a:noFill/>
          <a:ln/>
        </p:spPr>
        <p:txBody>
          <a:bodyPr wrap="square" rtlCol="0" anchor="ctr"/>
          <a:lstStyle/>
          <a:p>
            <a:pPr indent="0" marL="0">
              <a:lnSpc>
                <a:spcPct val="130000"/>
              </a:lnSpc>
              <a:buNone/>
            </a:pPr>
            <a:r>
              <a:rPr lang="en-US" sz="1300" dirty="0">
                <a:solidFill>
                  <a:srgbClr val="CFCFCF"/>
                </a:solidFill>
                <a:latin typeface="Calibri" pitchFamily="34" charset="0"/>
                <a:ea typeface="Calibri" pitchFamily="34" charset="-122"/>
                <a:cs typeface="Calibri" pitchFamily="34" charset="-120"/>
              </a:rPr>
              <a:t>This project shows how SQL and Power BI work together to turn raw retail data into a clear, useful dashboard. Splitting the analysis into Sales, Products, Stores, and Customers makes it much easier to understand how the business is doing — and to make better decisions from it.</a:t>
            </a:r>
            <a:endParaRPr lang="en-US" sz="1300" dirty="0"/>
          </a:p>
        </p:txBody>
      </p:sp>
      <p:sp>
        <p:nvSpPr>
          <p:cNvPr id="15" name="Text 13"/>
          <p:cNvSpPr/>
          <p:nvPr/>
        </p:nvSpPr>
        <p:spPr>
          <a:xfrm>
            <a:off x="502920" y="5760720"/>
            <a:ext cx="5486400" cy="54864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2026-08-21T04:39:09Z</dcterms:created>
  <dcterms:modified xsi:type="dcterms:W3CDTF">2026-08-21T04:39:09Z</dcterms:modified>
</cp:coreProperties>
</file>